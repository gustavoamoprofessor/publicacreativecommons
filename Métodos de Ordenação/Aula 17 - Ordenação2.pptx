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41"/>
  </p:notesMasterIdLst>
  <p:sldIdLst>
    <p:sldId id="262" r:id="rId2"/>
    <p:sldId id="278" r:id="rId3"/>
    <p:sldId id="263" r:id="rId4"/>
    <p:sldId id="265" r:id="rId5"/>
    <p:sldId id="266" r:id="rId6"/>
    <p:sldId id="267" r:id="rId7"/>
    <p:sldId id="268" r:id="rId8"/>
    <p:sldId id="269" r:id="rId9"/>
    <p:sldId id="297" r:id="rId10"/>
    <p:sldId id="270" r:id="rId11"/>
    <p:sldId id="271" r:id="rId12"/>
    <p:sldId id="272" r:id="rId13"/>
    <p:sldId id="273" r:id="rId14"/>
    <p:sldId id="298" r:id="rId15"/>
    <p:sldId id="299" r:id="rId16"/>
    <p:sldId id="274" r:id="rId17"/>
    <p:sldId id="275" r:id="rId18"/>
    <p:sldId id="276" r:id="rId19"/>
    <p:sldId id="277" r:id="rId20"/>
    <p:sldId id="300" r:id="rId21"/>
    <p:sldId id="280" r:id="rId22"/>
    <p:sldId id="281" r:id="rId23"/>
    <p:sldId id="282" r:id="rId24"/>
    <p:sldId id="279" r:id="rId25"/>
    <p:sldId id="283" r:id="rId26"/>
    <p:sldId id="291" r:id="rId27"/>
    <p:sldId id="285" r:id="rId28"/>
    <p:sldId id="286" r:id="rId29"/>
    <p:sldId id="287" r:id="rId30"/>
    <p:sldId id="288" r:id="rId31"/>
    <p:sldId id="289" r:id="rId32"/>
    <p:sldId id="290" r:id="rId33"/>
    <p:sldId id="301" r:id="rId34"/>
    <p:sldId id="292" r:id="rId35"/>
    <p:sldId id="293" r:id="rId36"/>
    <p:sldId id="294" r:id="rId37"/>
    <p:sldId id="295" r:id="rId38"/>
    <p:sldId id="296" r:id="rId39"/>
    <p:sldId id="26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88333" autoAdjust="0"/>
  </p:normalViewPr>
  <p:slideViewPr>
    <p:cSldViewPr snapToGrid="0">
      <p:cViewPr varScale="1">
        <p:scale>
          <a:sx n="60" d="100"/>
          <a:sy n="60" d="100"/>
        </p:scale>
        <p:origin x="104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0E37B-8AA0-4F7E-8737-247DF12C8C06}" type="datetimeFigureOut">
              <a:rPr lang="pt-BR" smtClean="0"/>
              <a:t>06/01/2026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05C504-A4DA-4DF2-8B22-C86329996F05}" type="slidenum">
              <a:rPr lang="pt-BR" smtClean="0"/>
              <a:t>‹nº›</a:t>
            </a:fld>
            <a:endParaRPr lang="pt-BR"/>
          </a:p>
        </p:txBody>
      </p:sp>
    </p:spTree>
    <p:extLst>
      <p:ext uri="{BB962C8B-B14F-4D97-AF65-F5344CB8AC3E}">
        <p14:creationId xmlns:p14="http://schemas.microsoft.com/office/powerpoint/2010/main" val="370135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pt-BR" smtClean="0"/>
              <a:t>Clique para editar o título mestre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dirty="0"/>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1327965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pt-BR" smtClean="0"/>
              <a:t>Clique para editar o título mestre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1972849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Editar estilos de texto Mestre</a:t>
            </a:r>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3746627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fld id="{AABD29BB-A614-475E-8BEE-173697D53EB8}" type="datetimeFigureOut">
              <a:rPr lang="pt-BR" smtClean="0"/>
              <a:t>06/01/2026</a:t>
            </a:fld>
            <a:endParaRPr lang="pt-BR"/>
          </a:p>
        </p:txBody>
      </p:sp>
      <p:sp>
        <p:nvSpPr>
          <p:cNvPr id="6" name="Footer Placeholder 5"/>
          <p:cNvSpPr>
            <a:spLocks noGrp="1"/>
          </p:cNvSpPr>
          <p:nvPr>
            <p:ph type="ftr" sz="quarter" idx="11"/>
          </p:nvPr>
        </p:nvSpPr>
        <p:spPr/>
        <p:txBody>
          <a:bodyPr/>
          <a:lstStyle/>
          <a:p>
            <a:endParaRPr lang="pt-B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249564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smtClean="0"/>
              <a:t>Clique para editar o título mestre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AABD29BB-A614-475E-8BEE-173697D53EB8}" type="datetimeFigureOut">
              <a:rPr lang="pt-BR" smtClean="0"/>
              <a:t>06/01/2026</a:t>
            </a:fld>
            <a:endParaRPr lang="pt-BR"/>
          </a:p>
        </p:txBody>
      </p:sp>
      <p:sp>
        <p:nvSpPr>
          <p:cNvPr id="8" name="Footer Placeholder 7"/>
          <p:cNvSpPr>
            <a:spLocks noGrp="1"/>
          </p:cNvSpPr>
          <p:nvPr>
            <p:ph type="ftr" sz="quarter" idx="11"/>
          </p:nvPr>
        </p:nvSpPr>
        <p:spPr/>
        <p:txBody>
          <a:bodyPr/>
          <a:lstStyle/>
          <a:p>
            <a:endParaRPr lang="pt-B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3294474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fld id="{AABD29BB-A614-475E-8BEE-173697D53EB8}" type="datetimeFigureOut">
              <a:rPr lang="pt-BR" smtClean="0"/>
              <a:t>06/01/2026</a:t>
            </a:fld>
            <a:endParaRPr lang="pt-BR"/>
          </a:p>
        </p:txBody>
      </p:sp>
      <p:sp>
        <p:nvSpPr>
          <p:cNvPr id="4" name="Footer Placeholder 3"/>
          <p:cNvSpPr>
            <a:spLocks noGrp="1"/>
          </p:cNvSpPr>
          <p:nvPr>
            <p:ph type="ftr" sz="quarter" idx="11"/>
          </p:nvPr>
        </p:nvSpPr>
        <p:spPr/>
        <p:txBody>
          <a:bodyPr/>
          <a:lstStyle/>
          <a:p>
            <a:endParaRPr lang="pt-B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2580789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D29BB-A614-475E-8BEE-173697D53EB8}" type="datetimeFigureOut">
              <a:rPr lang="pt-BR" smtClean="0"/>
              <a:t>06/01/2026</a:t>
            </a:fld>
            <a:endParaRPr lang="pt-BR"/>
          </a:p>
        </p:txBody>
      </p:sp>
      <p:sp>
        <p:nvSpPr>
          <p:cNvPr id="3" name="Footer Placeholder 2"/>
          <p:cNvSpPr>
            <a:spLocks noGrp="1"/>
          </p:cNvSpPr>
          <p:nvPr>
            <p:ph type="ftr" sz="quarter" idx="11"/>
          </p:nvPr>
        </p:nvSpPr>
        <p:spPr/>
        <p:txBody>
          <a:bodyPr/>
          <a:lstStyle/>
          <a:p>
            <a:endParaRPr lang="pt-B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90894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pt-BR" smtClean="0"/>
              <a:t>Clique para editar o título mestre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AABD29BB-A614-475E-8BEE-173697D53EB8}" type="datetimeFigureOut">
              <a:rPr lang="pt-BR" smtClean="0"/>
              <a:t>06/01/2026</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2567370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AABD29BB-A614-475E-8BEE-173697D53EB8}" type="datetimeFigureOut">
              <a:rPr lang="pt-BR" smtClean="0"/>
              <a:t>06/01/2026</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1031293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Editar estilos de texto Mestre</a:t>
            </a:r>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3748942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smtClean="0"/>
              <a:t>Clique para editar o título mestre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Editar estilos de texto Mestre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Editar estilos de texto Mestre</a:t>
            </a:r>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392711D-3136-463B-85BD-0839FD057ED5}" type="slidenum">
              <a:rPr lang="pt-BR" smtClean="0"/>
              <a:t>‹nº›</a:t>
            </a:fld>
            <a:endParaRPr lang="pt-B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64201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pt-BR" smtClean="0"/>
              <a:t>Clique para editar o título mestre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Editar estilos de texto Mestre</a:t>
            </a:r>
          </a:p>
        </p:txBody>
      </p:sp>
      <p:sp>
        <p:nvSpPr>
          <p:cNvPr id="5" name="Date Placeholder 4"/>
          <p:cNvSpPr>
            <a:spLocks noGrp="1"/>
          </p:cNvSpPr>
          <p:nvPr>
            <p:ph type="dt" sz="half" idx="10"/>
          </p:nvPr>
        </p:nvSpPr>
        <p:spPr/>
        <p:txBody>
          <a:bodyPr/>
          <a:lstStyle/>
          <a:p>
            <a:fld id="{AABD29BB-A614-475E-8BEE-173697D53EB8}" type="datetimeFigureOut">
              <a:rPr lang="pt-BR" smtClean="0"/>
              <a:t>06/01/2026</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2806252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smtClean="0"/>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Editar estilos de texto Mestre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Editar estilos de texto Mestre</a:t>
            </a:r>
          </a:p>
        </p:txBody>
      </p:sp>
      <p:sp>
        <p:nvSpPr>
          <p:cNvPr id="5" name="Date Placeholder 4"/>
          <p:cNvSpPr>
            <a:spLocks noGrp="1"/>
          </p:cNvSpPr>
          <p:nvPr>
            <p:ph type="dt" sz="half" idx="10"/>
          </p:nvPr>
        </p:nvSpPr>
        <p:spPr/>
        <p:txBody>
          <a:bodyPr/>
          <a:lstStyle/>
          <a:p>
            <a:fld id="{AABD29BB-A614-475E-8BEE-173697D53EB8}" type="datetimeFigureOut">
              <a:rPr lang="pt-BR" smtClean="0"/>
              <a:t>06/01/2026</a:t>
            </a:fld>
            <a:endParaRPr lang="pt-BR"/>
          </a:p>
        </p:txBody>
      </p:sp>
      <p:sp>
        <p:nvSpPr>
          <p:cNvPr id="6" name="Footer Placeholder 5"/>
          <p:cNvSpPr>
            <a:spLocks noGrp="1"/>
          </p:cNvSpPr>
          <p:nvPr>
            <p:ph type="ftr" sz="quarter" idx="11"/>
          </p:nvPr>
        </p:nvSpPr>
        <p:spPr/>
        <p:txBody>
          <a:bodyPr/>
          <a:lstStyle/>
          <a:p>
            <a:endParaRPr lang="pt-B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392711D-3136-463B-85BD-0839FD057ED5}" type="slidenum">
              <a:rPr lang="pt-BR" smtClean="0"/>
              <a:t>‹nº›</a:t>
            </a:fld>
            <a:endParaRPr lang="pt-B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847858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pt-BR" smtClean="0"/>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Editar estilos de texto Mestre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Editar estilos de texto Mestre</a:t>
            </a:r>
          </a:p>
        </p:txBody>
      </p:sp>
      <p:sp>
        <p:nvSpPr>
          <p:cNvPr id="5" name="Date Placeholder 4"/>
          <p:cNvSpPr>
            <a:spLocks noGrp="1"/>
          </p:cNvSpPr>
          <p:nvPr>
            <p:ph type="dt" sz="half" idx="10"/>
          </p:nvPr>
        </p:nvSpPr>
        <p:spPr/>
        <p:txBody>
          <a:bodyPr/>
          <a:lstStyle/>
          <a:p>
            <a:fld id="{AABD29BB-A614-475E-8BEE-173697D53EB8}" type="datetimeFigureOut">
              <a:rPr lang="pt-BR" smtClean="0"/>
              <a:t>06/01/2026</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4005105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1715452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AABD29BB-A614-475E-8BEE-173697D53EB8}" type="datetimeFigureOut">
              <a:rPr lang="pt-BR" smtClean="0"/>
              <a:t>06/01/2026</a:t>
            </a:fld>
            <a:endParaRPr lang="pt-BR"/>
          </a:p>
        </p:txBody>
      </p:sp>
      <p:sp>
        <p:nvSpPr>
          <p:cNvPr id="5" name="Footer Placeholder 4"/>
          <p:cNvSpPr>
            <a:spLocks noGrp="1"/>
          </p:cNvSpPr>
          <p:nvPr>
            <p:ph type="ftr" sz="quarter" idx="11"/>
          </p:nvPr>
        </p:nvSpPr>
        <p:spPr/>
        <p:txBody>
          <a:bodyPr/>
          <a:lstStyle/>
          <a:p>
            <a:endParaRPr lang="pt-B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392711D-3136-463B-85BD-0839FD057ED5}" type="slidenum">
              <a:rPr lang="pt-BR" smtClean="0"/>
              <a:t>‹nº›</a:t>
            </a:fld>
            <a:endParaRPr lang="pt-BR"/>
          </a:p>
        </p:txBody>
      </p:sp>
    </p:spTree>
    <p:extLst>
      <p:ext uri="{BB962C8B-B14F-4D97-AF65-F5344CB8AC3E}">
        <p14:creationId xmlns:p14="http://schemas.microsoft.com/office/powerpoint/2010/main" val="3824025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ítulo SESI e conteúd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9"/>
            <a:ext cx="10521600" cy="900000"/>
          </a:xfrm>
          <a:prstGeom prst="rect">
            <a:avLst/>
          </a:prstGeom>
        </p:spPr>
        <p:txBody>
          <a:bodyPr>
            <a:normAutofit/>
          </a:bodyPr>
          <a:lstStyle>
            <a:lvl1pPr>
              <a:lnSpc>
                <a:spcPct val="100000"/>
              </a:lnSpc>
              <a:defRPr sz="4400"/>
            </a:lvl1pPr>
          </a:lstStyle>
          <a:p>
            <a:r>
              <a:rPr lang="pt-BR" dirty="0"/>
              <a:t>CLIQUE PARA EDITAR O TÍTULO MESTRE</a:t>
            </a:r>
            <a:endParaRPr lang="en-US" dirty="0"/>
          </a:p>
        </p:txBody>
      </p:sp>
      <p:sp>
        <p:nvSpPr>
          <p:cNvPr id="8" name="Espaço Reservado para Conteúdo 5">
            <a:extLst>
              <a:ext uri="{FF2B5EF4-FFF2-40B4-BE49-F238E27FC236}">
                <a16:creationId xmlns:a16="http://schemas.microsoft.com/office/drawing/2014/main" id="{2E31D144-10B2-A142-8CD8-F0ECB1A33BA4}"/>
              </a:ext>
            </a:extLst>
          </p:cNvPr>
          <p:cNvSpPr>
            <a:spLocks noGrp="1"/>
          </p:cNvSpPr>
          <p:nvPr>
            <p:ph sz="quarter" idx="10"/>
          </p:nvPr>
        </p:nvSpPr>
        <p:spPr>
          <a:xfrm>
            <a:off x="838200" y="1484784"/>
            <a:ext cx="10515600" cy="4860000"/>
          </a:xfrm>
          <a:prstGeom prst="rect">
            <a:avLst/>
          </a:prstGeom>
        </p:spPr>
        <p:txBody>
          <a:bodyPr/>
          <a:lstStyle>
            <a:lvl1pPr>
              <a:lnSpc>
                <a:spcPct val="100000"/>
              </a:lnSpc>
              <a:defRPr sz="2400"/>
            </a:lvl1pPr>
            <a:lvl2pPr>
              <a:lnSpc>
                <a:spcPct val="100000"/>
              </a:lnSpc>
              <a:defRPr sz="2000"/>
            </a:lvl2pPr>
            <a:lvl3pPr>
              <a:lnSpc>
                <a:spcPct val="100000"/>
              </a:lnSpc>
              <a:defRPr sz="1600"/>
            </a:lvl3pPr>
            <a:lvl4pPr>
              <a:lnSpc>
                <a:spcPct val="100000"/>
              </a:lnSpc>
              <a:defRPr sz="1400"/>
            </a:lvl4pPr>
            <a:lvl5pPr>
              <a:lnSpc>
                <a:spcPct val="100000"/>
              </a:lnSpc>
              <a:defRPr sz="1400"/>
            </a:lvl5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dirty="0"/>
          </a:p>
        </p:txBody>
      </p:sp>
    </p:spTree>
    <p:extLst>
      <p:ext uri="{BB962C8B-B14F-4D97-AF65-F5344CB8AC3E}">
        <p14:creationId xmlns:p14="http://schemas.microsoft.com/office/powerpoint/2010/main" val="23877474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de título e Nome palestrante">
    <p:bg>
      <p:bgPr>
        <a:solidFill>
          <a:srgbClr val="007744"/>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8200" y="882649"/>
            <a:ext cx="6770914" cy="1325563"/>
          </a:xfrm>
        </p:spPr>
        <p:txBody>
          <a:bodyPr/>
          <a:lstStyle>
            <a:lvl1pPr>
              <a:defRPr>
                <a:solidFill>
                  <a:schemeClr val="bg1"/>
                </a:solidFill>
                <a:effectLst>
                  <a:outerShdw blurRad="38100" dist="38100" dir="2700000" algn="tl">
                    <a:srgbClr val="000000">
                      <a:alpha val="43137"/>
                    </a:srgbClr>
                  </a:outerShdw>
                </a:effectLst>
              </a:defRPr>
            </a:lvl1pPr>
          </a:lstStyle>
          <a:p>
            <a:r>
              <a:rPr lang="pt-BR" dirty="0"/>
              <a:t>CLIQUE PARA EDITAR O TÍTULO MESTRE</a:t>
            </a:r>
            <a:endParaRPr lang="en-US" dirty="0"/>
          </a:p>
        </p:txBody>
      </p:sp>
      <p:sp>
        <p:nvSpPr>
          <p:cNvPr id="11" name="Subtítulo 2"/>
          <p:cNvSpPr>
            <a:spLocks noGrp="1"/>
          </p:cNvSpPr>
          <p:nvPr>
            <p:ph type="subTitle" idx="1"/>
          </p:nvPr>
        </p:nvSpPr>
        <p:spPr>
          <a:xfrm>
            <a:off x="838200" y="2954337"/>
            <a:ext cx="7481711" cy="1655763"/>
          </a:xfrm>
          <a:prstGeom prst="rect">
            <a:avLst/>
          </a:prstGeom>
        </p:spPr>
        <p:txBody>
          <a:bodyPr/>
          <a:lstStyle>
            <a:lvl1pPr marL="0" indent="0" algn="l">
              <a:buNone/>
              <a:defRPr sz="240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pt-BR" smtClean="0"/>
              <a:t>Clique para editar o estilo do subtítulo Mestre</a:t>
            </a:r>
            <a:endParaRPr lang="pt-BR" dirty="0"/>
          </a:p>
        </p:txBody>
      </p:sp>
    </p:spTree>
    <p:extLst>
      <p:ext uri="{BB962C8B-B14F-4D97-AF65-F5344CB8AC3E}">
        <p14:creationId xmlns:p14="http://schemas.microsoft.com/office/powerpoint/2010/main" val="3187484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ABD29BB-A614-475E-8BEE-173697D53EB8}" type="datetimeFigureOut">
              <a:rPr lang="pt-BR" smtClean="0"/>
              <a:t>06/01/2026</a:t>
            </a:fld>
            <a:endParaRPr lang="pt-B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392711D-3136-463B-85BD-0839FD057ED5}" type="slidenum">
              <a:rPr lang="pt-BR" smtClean="0"/>
              <a:t>‹nº›</a:t>
            </a:fld>
            <a:endParaRPr lang="pt-BR"/>
          </a:p>
        </p:txBody>
      </p:sp>
    </p:spTree>
    <p:extLst>
      <p:ext uri="{BB962C8B-B14F-4D97-AF65-F5344CB8AC3E}">
        <p14:creationId xmlns:p14="http://schemas.microsoft.com/office/powerpoint/2010/main" val="356581762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7.xml"/><Relationship Id="rId1" Type="http://schemas.openxmlformats.org/officeDocument/2006/relationships/video" Target="https://www.youtube.com/embed/ROalU379l3U"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7.xml"/><Relationship Id="rId1" Type="http://schemas.openxmlformats.org/officeDocument/2006/relationships/video" Target="https://www.youtube.com/embed/Ns4TPTC8wh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7.xml"/><Relationship Id="rId1" Type="http://schemas.openxmlformats.org/officeDocument/2006/relationships/video" Target="https://www.youtube.com/embed/DX-dXwtIGa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17.xml"/><Relationship Id="rId1" Type="http://schemas.openxmlformats.org/officeDocument/2006/relationships/video" Target="https://www.youtube.com/embed/ywWBy6J5gz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17.xml"/><Relationship Id="rId1" Type="http://schemas.openxmlformats.org/officeDocument/2006/relationships/video" Target="https://www.youtube.com/embed/XaqR3G_NVoo"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hyperlink" Target="https://embarcados.com.br/algoritmos-de-ordenacao-bubble-sort/" TargetMode="External"/><Relationship Id="rId2" Type="http://schemas.openxmlformats.org/officeDocument/2006/relationships/hyperlink" Target="https://www.treinaweb.com.br/blog/conheca-os-principais-algoritmos-de-ordenacao"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Por que ordenar</a:t>
            </a:r>
            <a:endParaRPr lang="pt-BR" dirty="0"/>
          </a:p>
        </p:txBody>
      </p:sp>
      <p:sp>
        <p:nvSpPr>
          <p:cNvPr id="3" name="Espaço Reservado para Conteúdo 2"/>
          <p:cNvSpPr>
            <a:spLocks noGrp="1"/>
          </p:cNvSpPr>
          <p:nvPr>
            <p:ph sz="quarter" idx="10"/>
          </p:nvPr>
        </p:nvSpPr>
        <p:spPr/>
        <p:txBody>
          <a:bodyPr>
            <a:normAutofit lnSpcReduction="10000"/>
          </a:bodyPr>
          <a:lstStyle/>
          <a:p>
            <a:pPr marL="0" indent="0" algn="just">
              <a:buNone/>
            </a:pPr>
            <a:r>
              <a:rPr lang="pt-BR" sz="2800" dirty="0"/>
              <a:t>	A ordenação ou classificação de registros consiste em organizá-los em ordem crescente ou decrescente e assim facilitar a recuperação desses dados. A ordenação tem como objetivo facilitar as buscas e pesquisas de ocorrências de determinado elemento em um conjunto ordenado</a:t>
            </a:r>
            <a:r>
              <a:rPr lang="pt-BR" sz="2800" dirty="0" smtClean="0"/>
              <a:t>.</a:t>
            </a:r>
          </a:p>
          <a:p>
            <a:pPr marL="0" indent="0" algn="just">
              <a:buNone/>
            </a:pPr>
            <a:r>
              <a:rPr lang="pt-BR" sz="2800" dirty="0"/>
              <a:t>	Na computação existe uma série de algoritmos que utilizam diferentes técnicas de ordenação para organizar um conjunto de dados, eles são conhecidos como Métodos de Ordenação ou Algoritmos de Ordenação. Vamos conhecer um pouco mais sobre eles.</a:t>
            </a:r>
          </a:p>
        </p:txBody>
      </p:sp>
    </p:spTree>
    <p:extLst>
      <p:ext uri="{BB962C8B-B14F-4D97-AF65-F5344CB8AC3E}">
        <p14:creationId xmlns:p14="http://schemas.microsoft.com/office/powerpoint/2010/main" val="24470076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Ordenação</a:t>
            </a:r>
            <a:endParaRPr lang="pt-BR" dirty="0"/>
          </a:p>
        </p:txBody>
      </p:sp>
      <p:sp>
        <p:nvSpPr>
          <p:cNvPr id="3" name="Espaço Reservado para Conteúdo 2"/>
          <p:cNvSpPr>
            <a:spLocks noGrp="1"/>
          </p:cNvSpPr>
          <p:nvPr>
            <p:ph sz="quarter" idx="10"/>
          </p:nvPr>
        </p:nvSpPr>
        <p:spPr/>
        <p:txBody>
          <a:bodyPr/>
          <a:lstStyle/>
          <a:p>
            <a:pPr marL="0" indent="0" algn="just">
              <a:buNone/>
            </a:pPr>
            <a:r>
              <a:rPr lang="pt-BR" sz="2800" dirty="0"/>
              <a:t>	Na escolha de um algoritmo de ordenação interna deve </a:t>
            </a:r>
            <a:r>
              <a:rPr lang="pt-BR" sz="2800" dirty="0" smtClean="0"/>
              <a:t>ser considerado </a:t>
            </a:r>
            <a:r>
              <a:rPr lang="pt-BR" sz="2800" dirty="0"/>
              <a:t>principalmente:</a:t>
            </a:r>
          </a:p>
          <a:p>
            <a:pPr lvl="1" algn="just"/>
            <a:r>
              <a:rPr lang="pt-BR" sz="2800" dirty="0"/>
              <a:t>O tempo gasto pela ordenação;</a:t>
            </a:r>
          </a:p>
          <a:p>
            <a:pPr lvl="1" algn="just"/>
            <a:r>
              <a:rPr lang="pt-BR" sz="2800" dirty="0"/>
              <a:t>O uso econômico da memória disponível</a:t>
            </a:r>
            <a:r>
              <a:rPr lang="pt-BR" sz="2800" dirty="0" smtClean="0"/>
              <a:t>;</a:t>
            </a:r>
          </a:p>
          <a:p>
            <a:pPr marL="457200" lvl="1" indent="0" algn="just">
              <a:buNone/>
            </a:pPr>
            <a:endParaRPr lang="pt-BR" sz="2800" dirty="0"/>
          </a:p>
          <a:p>
            <a:pPr marL="0" indent="0" algn="just">
              <a:buNone/>
            </a:pPr>
            <a:r>
              <a:rPr lang="pt-BR" sz="2800" dirty="0" smtClean="0"/>
              <a:t>	A </a:t>
            </a:r>
            <a:r>
              <a:rPr lang="pt-BR" sz="2800" dirty="0"/>
              <a:t>eficiência no manuseio de dados muitas vezes pode </a:t>
            </a:r>
            <a:r>
              <a:rPr lang="pt-BR" sz="2800" dirty="0" smtClean="0"/>
              <a:t>ser aumentada </a:t>
            </a:r>
            <a:r>
              <a:rPr lang="pt-BR" sz="2800" dirty="0"/>
              <a:t>se os dados estiverem dispostos de </a:t>
            </a:r>
            <a:r>
              <a:rPr lang="pt-BR" sz="2800" dirty="0" smtClean="0"/>
              <a:t>acordo com </a:t>
            </a:r>
            <a:r>
              <a:rPr lang="pt-BR" sz="2800" dirty="0"/>
              <a:t>algum critério de ordem</a:t>
            </a:r>
          </a:p>
          <a:p>
            <a:pPr lvl="1" algn="just"/>
            <a:r>
              <a:rPr lang="pt-BR" sz="2800" dirty="0"/>
              <a:t>Exemplo: Uma lista telefônica sem ordem.</a:t>
            </a:r>
          </a:p>
        </p:txBody>
      </p:sp>
    </p:spTree>
    <p:extLst>
      <p:ext uri="{BB962C8B-B14F-4D97-AF65-F5344CB8AC3E}">
        <p14:creationId xmlns:p14="http://schemas.microsoft.com/office/powerpoint/2010/main" val="34081888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Tipos de ordenação</a:t>
            </a:r>
            <a:endParaRPr lang="pt-BR" dirty="0"/>
          </a:p>
        </p:txBody>
      </p:sp>
      <p:sp>
        <p:nvSpPr>
          <p:cNvPr id="3" name="Espaço Reservado para Conteúdo 2"/>
          <p:cNvSpPr>
            <a:spLocks noGrp="1"/>
          </p:cNvSpPr>
          <p:nvPr>
            <p:ph sz="quarter" idx="10"/>
          </p:nvPr>
        </p:nvSpPr>
        <p:spPr/>
        <p:txBody>
          <a:bodyPr/>
          <a:lstStyle/>
          <a:p>
            <a:pPr marL="0" indent="0" algn="just">
              <a:buNone/>
            </a:pPr>
            <a:r>
              <a:rPr lang="pt-BR" sz="2800" b="1" dirty="0"/>
              <a:t>Ordenação Interna</a:t>
            </a:r>
            <a:r>
              <a:rPr lang="pt-BR" sz="2800" dirty="0"/>
              <a:t>: onde todos os elementos a serem ordenados cabem na memória principal e qualquer registro pode ser imediatamente acessado.</a:t>
            </a:r>
          </a:p>
          <a:p>
            <a:pPr marL="0" indent="0" algn="just">
              <a:buNone/>
            </a:pPr>
            <a:endParaRPr lang="pt-BR" sz="2800" dirty="0"/>
          </a:p>
          <a:p>
            <a:pPr marL="0" indent="0" algn="just">
              <a:buNone/>
            </a:pPr>
            <a:r>
              <a:rPr lang="pt-BR" sz="2800" b="1" dirty="0"/>
              <a:t>Ordenação Externa</a:t>
            </a:r>
            <a:r>
              <a:rPr lang="pt-BR" sz="2800" dirty="0"/>
              <a:t>: onde os elementos a serem ordenados não cabem na memória principal e os registros são acessados sequencialmente ou em grandes blocos.</a:t>
            </a:r>
          </a:p>
        </p:txBody>
      </p:sp>
    </p:spTree>
    <p:extLst>
      <p:ext uri="{BB962C8B-B14F-4D97-AF65-F5344CB8AC3E}">
        <p14:creationId xmlns:p14="http://schemas.microsoft.com/office/powerpoint/2010/main" val="31902929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Métodos </a:t>
            </a:r>
            <a:r>
              <a:rPr lang="pt-BR" dirty="0" smtClean="0"/>
              <a:t>Simples</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a:t>	Os métodos simples são adequados para pequenos vetores, são programas pequenos e fáceis de entender</a:t>
            </a:r>
            <a:r>
              <a:rPr lang="pt-BR" dirty="0" smtClean="0"/>
              <a:t>. </a:t>
            </a:r>
            <a:r>
              <a:rPr lang="fr-FR" dirty="0" smtClean="0"/>
              <a:t>Exemplos</a:t>
            </a:r>
            <a:r>
              <a:rPr lang="fr-FR" dirty="0"/>
              <a:t>: </a:t>
            </a:r>
            <a:r>
              <a:rPr lang="fr-FR" i="1" dirty="0"/>
              <a:t>Insertion Sort</a:t>
            </a:r>
            <a:r>
              <a:rPr lang="fr-FR" dirty="0"/>
              <a:t>, </a:t>
            </a:r>
            <a:r>
              <a:rPr lang="fr-FR" i="1" dirty="0"/>
              <a:t>Selection Sort</a:t>
            </a:r>
            <a:r>
              <a:rPr lang="fr-FR" dirty="0"/>
              <a:t>, </a:t>
            </a:r>
            <a:r>
              <a:rPr lang="fr-FR" i="1" dirty="0"/>
              <a:t>Bubble Sort</a:t>
            </a:r>
            <a:r>
              <a:rPr lang="fr-FR" dirty="0"/>
              <a:t>, </a:t>
            </a:r>
            <a:r>
              <a:rPr lang="fr-FR" i="1" dirty="0"/>
              <a:t>Comb Sort</a:t>
            </a:r>
            <a:r>
              <a:rPr lang="fr-FR" dirty="0"/>
              <a:t>.</a:t>
            </a:r>
            <a:endParaRPr lang="pt-BR" dirty="0"/>
          </a:p>
        </p:txBody>
      </p:sp>
    </p:spTree>
    <p:extLst>
      <p:ext uri="{BB962C8B-B14F-4D97-AF65-F5344CB8AC3E}">
        <p14:creationId xmlns:p14="http://schemas.microsoft.com/office/powerpoint/2010/main" val="31265835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Insertion</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buNone/>
            </a:pPr>
            <a:r>
              <a:rPr lang="pt-BR" i="1" dirty="0" err="1"/>
              <a:t>Insertion</a:t>
            </a:r>
            <a:r>
              <a:rPr lang="pt-BR" i="1" dirty="0"/>
              <a:t> </a:t>
            </a:r>
            <a:r>
              <a:rPr lang="pt-BR" i="1" dirty="0" err="1"/>
              <a:t>Sort</a:t>
            </a:r>
            <a:r>
              <a:rPr lang="pt-BR" dirty="0"/>
              <a:t> ou ordenação por inserção é o método que percorre um vetor de elementos da esquerda para a direita e à medida que avança vai ordenando os elementos à esquerda</a:t>
            </a:r>
            <a:r>
              <a:rPr lang="pt-BR" dirty="0" smtClean="0"/>
              <a:t>.</a:t>
            </a:r>
          </a:p>
          <a:p>
            <a:pPr marL="0" indent="0">
              <a:buNone/>
            </a:pPr>
            <a:r>
              <a:rPr lang="pt-BR" dirty="0"/>
              <a:t>O funcionamento do algoritmo é bem simples: consiste em cada passo a partir do segundo elemento selecionar o próximo item da sequência e colocá-lo no local apropriado de acordo com o critério de ordenação.</a:t>
            </a:r>
          </a:p>
        </p:txBody>
      </p:sp>
    </p:spTree>
    <p:extLst>
      <p:ext uri="{BB962C8B-B14F-4D97-AF65-F5344CB8AC3E}">
        <p14:creationId xmlns:p14="http://schemas.microsoft.com/office/powerpoint/2010/main" val="32701028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ço Reservado para Conteúdo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2352344" y="1465985"/>
            <a:ext cx="5837499" cy="4941027"/>
          </a:xfrm>
        </p:spPr>
      </p:pic>
      <p:pic>
        <p:nvPicPr>
          <p:cNvPr id="5" name="Imagem 4" descr="Timsort原理学习 · Sik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8036" y="238539"/>
            <a:ext cx="4762500" cy="1227446"/>
          </a:xfrm>
          <a:prstGeom prst="rect">
            <a:avLst/>
          </a:prstGeom>
        </p:spPr>
      </p:pic>
    </p:spTree>
    <p:extLst>
      <p:ext uri="{BB962C8B-B14F-4D97-AF65-F5344CB8AC3E}">
        <p14:creationId xmlns:p14="http://schemas.microsoft.com/office/powerpoint/2010/main" val="38352466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Insertion</a:t>
            </a:r>
            <a:r>
              <a:rPr lang="pt-BR" dirty="0" smtClean="0"/>
              <a:t> </a:t>
            </a:r>
            <a:r>
              <a:rPr lang="pt-BR" dirty="0" err="1" smtClean="0"/>
              <a:t>Sort</a:t>
            </a:r>
            <a:endParaRPr lang="pt-BR" dirty="0"/>
          </a:p>
        </p:txBody>
      </p:sp>
      <p:pic>
        <p:nvPicPr>
          <p:cNvPr id="4" name="ROalU379l3U"/>
          <p:cNvPicPr>
            <a:picLocks noGrp="1" noRot="1" noChangeAspect="1"/>
          </p:cNvPicPr>
          <p:nvPr>
            <p:ph sz="quarter" idx="10"/>
            <a:videoFile r:link="rId1"/>
          </p:nvPr>
        </p:nvPicPr>
        <p:blipFill>
          <a:blip r:embed="rId3"/>
          <a:stretch>
            <a:fillRect/>
          </a:stretch>
        </p:blipFill>
        <p:spPr>
          <a:xfrm>
            <a:off x="1639888" y="1265238"/>
            <a:ext cx="8918575" cy="5016500"/>
          </a:xfrm>
          <a:prstGeom prst="rect">
            <a:avLst/>
          </a:prstGeom>
        </p:spPr>
      </p:pic>
    </p:spTree>
    <p:extLst>
      <p:ext uri="{BB962C8B-B14F-4D97-AF65-F5344CB8AC3E}">
        <p14:creationId xmlns:p14="http://schemas.microsoft.com/office/powerpoint/2010/main" val="38317293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Insertion</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buNone/>
            </a:pPr>
            <a:r>
              <a:rPr lang="pt-BR" dirty="0" smtClean="0"/>
              <a:t>Explicar no algoritmo</a:t>
            </a:r>
            <a:endParaRPr lang="pt-BR" dirty="0"/>
          </a:p>
        </p:txBody>
      </p:sp>
    </p:spTree>
    <p:extLst>
      <p:ext uri="{BB962C8B-B14F-4D97-AF65-F5344CB8AC3E}">
        <p14:creationId xmlns:p14="http://schemas.microsoft.com/office/powerpoint/2010/main" val="1763995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Atividade</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1- Desenvolva um fluxograma da ordenação </a:t>
            </a:r>
            <a:r>
              <a:rPr lang="pt-BR" dirty="0" err="1" smtClean="0"/>
              <a:t>insertion</a:t>
            </a:r>
            <a:r>
              <a:rPr lang="pt-BR" dirty="0" smtClean="0"/>
              <a:t> </a:t>
            </a:r>
            <a:r>
              <a:rPr lang="pt-BR" dirty="0" err="1" smtClean="0"/>
              <a:t>Sort</a:t>
            </a:r>
            <a:r>
              <a:rPr lang="pt-BR" dirty="0" smtClean="0"/>
              <a:t>.</a:t>
            </a:r>
          </a:p>
          <a:p>
            <a:pPr marL="0" indent="0" algn="just">
              <a:buNone/>
            </a:pPr>
            <a:r>
              <a:rPr lang="pt-BR" dirty="0" smtClean="0"/>
              <a:t>2 Insira 8 valores em um vetor e aplique o </a:t>
            </a:r>
            <a:r>
              <a:rPr lang="pt-BR" dirty="0" err="1" smtClean="0"/>
              <a:t>insertion</a:t>
            </a:r>
            <a:r>
              <a:rPr lang="pt-BR" dirty="0" smtClean="0"/>
              <a:t> </a:t>
            </a:r>
            <a:r>
              <a:rPr lang="pt-BR" dirty="0" err="1" smtClean="0"/>
              <a:t>Sort</a:t>
            </a:r>
            <a:r>
              <a:rPr lang="pt-BR" dirty="0" smtClean="0"/>
              <a:t> para organizar o vetor. Escreva o vetor original e o organizado</a:t>
            </a:r>
          </a:p>
          <a:p>
            <a:pPr marL="0" indent="0" algn="just">
              <a:buNone/>
            </a:pPr>
            <a:r>
              <a:rPr lang="pt-BR" dirty="0" smtClean="0"/>
              <a:t>3: </a:t>
            </a:r>
            <a:r>
              <a:rPr lang="pt-BR" dirty="0"/>
              <a:t>insira </a:t>
            </a:r>
            <a:r>
              <a:rPr lang="pt-BR" dirty="0" smtClean="0"/>
              <a:t>5 valores </a:t>
            </a:r>
            <a:r>
              <a:rPr lang="pt-BR" dirty="0"/>
              <a:t>em um vetor</a:t>
            </a:r>
            <a:r>
              <a:rPr lang="pt-BR" dirty="0" smtClean="0"/>
              <a:t> </a:t>
            </a:r>
            <a:r>
              <a:rPr lang="pt-BR" dirty="0"/>
              <a:t>e aplique o </a:t>
            </a:r>
            <a:r>
              <a:rPr lang="pt-BR" dirty="0" err="1"/>
              <a:t>insertion</a:t>
            </a:r>
            <a:r>
              <a:rPr lang="pt-BR" dirty="0"/>
              <a:t> </a:t>
            </a:r>
            <a:r>
              <a:rPr lang="pt-BR" dirty="0" err="1"/>
              <a:t>Sort</a:t>
            </a:r>
            <a:r>
              <a:rPr lang="pt-BR" dirty="0"/>
              <a:t> para </a:t>
            </a:r>
            <a:r>
              <a:rPr lang="pt-BR" dirty="0" smtClean="0"/>
              <a:t>organizar </a:t>
            </a:r>
            <a:r>
              <a:rPr lang="pt-BR" dirty="0"/>
              <a:t>o </a:t>
            </a:r>
            <a:r>
              <a:rPr lang="pt-BR" dirty="0" smtClean="0"/>
              <a:t>vetor de forma decrescente.</a:t>
            </a:r>
          </a:p>
          <a:p>
            <a:pPr marL="0" indent="0" algn="just">
              <a:buNone/>
            </a:pPr>
            <a:r>
              <a:rPr lang="pt-BR" dirty="0" smtClean="0"/>
              <a:t>4: </a:t>
            </a:r>
            <a:r>
              <a:rPr lang="pt-BR" dirty="0"/>
              <a:t>insira </a:t>
            </a:r>
            <a:r>
              <a:rPr lang="pt-BR" dirty="0" smtClean="0"/>
              <a:t>50 </a:t>
            </a:r>
            <a:r>
              <a:rPr lang="pt-BR" dirty="0"/>
              <a:t>valores em um </a:t>
            </a:r>
            <a:r>
              <a:rPr lang="pt-BR" dirty="0" smtClean="0"/>
              <a:t>vetor (sorteio) e utilizando o </a:t>
            </a:r>
            <a:r>
              <a:rPr lang="pt-BR" dirty="0" err="1" smtClean="0"/>
              <a:t>insertion</a:t>
            </a:r>
            <a:r>
              <a:rPr lang="pt-BR" dirty="0" smtClean="0"/>
              <a:t> </a:t>
            </a:r>
            <a:r>
              <a:rPr lang="pt-BR" dirty="0" err="1" smtClean="0"/>
              <a:t>Sort</a:t>
            </a:r>
            <a:r>
              <a:rPr lang="pt-BR" dirty="0" smtClean="0"/>
              <a:t> em uma função (passe o vetor como parâmetro), organize-o em forma crescente e decrescente. Exiba o vetor original,  </a:t>
            </a:r>
            <a:r>
              <a:rPr lang="pt-BR" dirty="0"/>
              <a:t>crescente e </a:t>
            </a:r>
            <a:r>
              <a:rPr lang="pt-BR" dirty="0" smtClean="0"/>
              <a:t>decrescente.</a:t>
            </a:r>
          </a:p>
        </p:txBody>
      </p:sp>
    </p:spTree>
    <p:extLst>
      <p:ext uri="{BB962C8B-B14F-4D97-AF65-F5344CB8AC3E}">
        <p14:creationId xmlns:p14="http://schemas.microsoft.com/office/powerpoint/2010/main" val="27551836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Selection</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	</a:t>
            </a:r>
            <a:r>
              <a:rPr lang="pt-BR" dirty="0"/>
              <a:t>A ordenação por seleção ou </a:t>
            </a:r>
            <a:r>
              <a:rPr lang="pt-BR" i="1" dirty="0" err="1"/>
              <a:t>selection</a:t>
            </a:r>
            <a:r>
              <a:rPr lang="pt-BR" i="1" dirty="0"/>
              <a:t> </a:t>
            </a:r>
            <a:r>
              <a:rPr lang="pt-BR" i="1" dirty="0" err="1"/>
              <a:t>sort</a:t>
            </a:r>
            <a:r>
              <a:rPr lang="pt-BR" dirty="0"/>
              <a:t> consiste em selecionar o menor item e colocar na primeira posição, selecionar o segundo menor item e colocar na segunda posição, segue estes passos até que reste um único elemento.</a:t>
            </a:r>
          </a:p>
        </p:txBody>
      </p:sp>
    </p:spTree>
    <p:extLst>
      <p:ext uri="{BB962C8B-B14F-4D97-AF65-F5344CB8AC3E}">
        <p14:creationId xmlns:p14="http://schemas.microsoft.com/office/powerpoint/2010/main" val="2172854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Selection</a:t>
            </a:r>
            <a:r>
              <a:rPr lang="pt-BR" dirty="0" smtClean="0"/>
              <a:t> </a:t>
            </a:r>
            <a:r>
              <a:rPr lang="pt-BR" dirty="0" err="1" smtClean="0"/>
              <a:t>Sort</a:t>
            </a:r>
            <a:endParaRPr lang="pt-BR" dirty="0"/>
          </a:p>
        </p:txBody>
      </p:sp>
      <p:pic>
        <p:nvPicPr>
          <p:cNvPr id="2050" name="Picture 2" descr="https://d2m498l008ebpa.cloudfront.net/2016/12/selection-sort-animation-2-1.gif"/>
          <p:cNvPicPr>
            <a:picLocks noGrp="1" noChangeAspect="1" noChangeArrowheads="1" noCrop="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266411" y="2108131"/>
            <a:ext cx="952500" cy="35337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d2m498l008ebpa.cloudfront.net/2016/12/selection-sort-animation-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747453" y="1532903"/>
            <a:ext cx="4774234" cy="4774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568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Selection</a:t>
            </a:r>
            <a:r>
              <a:rPr lang="pt-BR" dirty="0" smtClean="0"/>
              <a:t> </a:t>
            </a:r>
            <a:r>
              <a:rPr lang="pt-BR" dirty="0" err="1" smtClean="0"/>
              <a:t>Sort</a:t>
            </a:r>
            <a:endParaRPr lang="pt-BR" dirty="0"/>
          </a:p>
        </p:txBody>
      </p:sp>
      <p:pic>
        <p:nvPicPr>
          <p:cNvPr id="4" name="Ns4TPTC8whw"/>
          <p:cNvPicPr>
            <a:picLocks noGrp="1" noRot="1" noChangeAspect="1"/>
          </p:cNvPicPr>
          <p:nvPr>
            <p:ph sz="quarter" idx="10"/>
            <a:videoFile r:link="rId1"/>
          </p:nvPr>
        </p:nvPicPr>
        <p:blipFill>
          <a:blip r:embed="rId3"/>
          <a:stretch>
            <a:fillRect/>
          </a:stretch>
        </p:blipFill>
        <p:spPr>
          <a:xfrm>
            <a:off x="3810000" y="2628900"/>
            <a:ext cx="4572000" cy="2571750"/>
          </a:xfrm>
          <a:prstGeom prst="rect">
            <a:avLst/>
          </a:prstGeom>
        </p:spPr>
      </p:pic>
    </p:spTree>
    <p:extLst>
      <p:ext uri="{BB962C8B-B14F-4D97-AF65-F5344CB8AC3E}">
        <p14:creationId xmlns:p14="http://schemas.microsoft.com/office/powerpoint/2010/main" val="11459133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Selection</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buNone/>
            </a:pPr>
            <a:r>
              <a:rPr lang="pt-BR" dirty="0"/>
              <a:t>Explicar no </a:t>
            </a:r>
            <a:r>
              <a:rPr lang="pt-BR" dirty="0" smtClean="0"/>
              <a:t>algoritmo</a:t>
            </a:r>
            <a:endParaRPr lang="pt-BR" dirty="0"/>
          </a:p>
        </p:txBody>
      </p:sp>
    </p:spTree>
    <p:extLst>
      <p:ext uri="{BB962C8B-B14F-4D97-AF65-F5344CB8AC3E}">
        <p14:creationId xmlns:p14="http://schemas.microsoft.com/office/powerpoint/2010/main" val="852547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Atividade</a:t>
            </a:r>
            <a:endParaRPr lang="pt-BR" dirty="0"/>
          </a:p>
        </p:txBody>
      </p:sp>
      <p:sp>
        <p:nvSpPr>
          <p:cNvPr id="3" name="Espaço Reservado para Conteúdo 2"/>
          <p:cNvSpPr>
            <a:spLocks noGrp="1"/>
          </p:cNvSpPr>
          <p:nvPr>
            <p:ph sz="quarter" idx="10"/>
          </p:nvPr>
        </p:nvSpPr>
        <p:spPr>
          <a:xfrm>
            <a:off x="844200" y="1514764"/>
            <a:ext cx="10515600" cy="4860000"/>
          </a:xfrm>
        </p:spPr>
        <p:txBody>
          <a:bodyPr>
            <a:normAutofit lnSpcReduction="10000"/>
          </a:bodyPr>
          <a:lstStyle/>
          <a:p>
            <a:pPr marL="0" indent="0" algn="just">
              <a:buNone/>
            </a:pPr>
            <a:r>
              <a:rPr lang="pt-BR" dirty="0" smtClean="0"/>
              <a:t>0- Desenhar o fluxograma da estrutura de </a:t>
            </a:r>
            <a:r>
              <a:rPr lang="pt-BR" dirty="0" err="1" smtClean="0"/>
              <a:t>selection</a:t>
            </a:r>
            <a:r>
              <a:rPr lang="pt-BR" dirty="0" smtClean="0"/>
              <a:t> </a:t>
            </a:r>
            <a:r>
              <a:rPr lang="pt-BR" dirty="0" err="1" smtClean="0"/>
              <a:t>Sort</a:t>
            </a:r>
            <a:endParaRPr lang="pt-BR" dirty="0" smtClean="0"/>
          </a:p>
          <a:p>
            <a:pPr marL="0" indent="0" algn="just">
              <a:buNone/>
            </a:pPr>
            <a:r>
              <a:rPr lang="pt-BR" dirty="0" smtClean="0"/>
              <a:t>1- Ordenação </a:t>
            </a:r>
            <a:r>
              <a:rPr lang="pt-BR" dirty="0"/>
              <a:t>Crescente: Crie um programa que leia um vetor com 10 números inteiros e utilize o algoritmo de </a:t>
            </a:r>
            <a:r>
              <a:rPr lang="pt-BR" dirty="0" err="1"/>
              <a:t>Selection</a:t>
            </a:r>
            <a:r>
              <a:rPr lang="pt-BR" dirty="0"/>
              <a:t> </a:t>
            </a:r>
            <a:r>
              <a:rPr lang="pt-BR" dirty="0" err="1"/>
              <a:t>Sort</a:t>
            </a:r>
            <a:r>
              <a:rPr lang="pt-BR" dirty="0"/>
              <a:t> para ordenar o vetor em ordem crescente. Em seguida, exiba o vetor </a:t>
            </a:r>
            <a:r>
              <a:rPr lang="pt-BR" dirty="0" smtClean="0"/>
              <a:t>ordenado.</a:t>
            </a:r>
          </a:p>
          <a:p>
            <a:pPr marL="0" indent="0" algn="just">
              <a:buNone/>
            </a:pPr>
            <a:r>
              <a:rPr lang="pt-BR" dirty="0" smtClean="0"/>
              <a:t>2- Ordenação </a:t>
            </a:r>
            <a:r>
              <a:rPr lang="pt-BR" dirty="0"/>
              <a:t>Decrescente: Crie um programa que leia um vetor com 8 números reais e utilize o algoritmo de </a:t>
            </a:r>
            <a:r>
              <a:rPr lang="pt-BR" dirty="0" err="1"/>
              <a:t>Selection</a:t>
            </a:r>
            <a:r>
              <a:rPr lang="pt-BR" dirty="0"/>
              <a:t> </a:t>
            </a:r>
            <a:r>
              <a:rPr lang="pt-BR" dirty="0" err="1"/>
              <a:t>Sort</a:t>
            </a:r>
            <a:r>
              <a:rPr lang="pt-BR" dirty="0"/>
              <a:t> para ordenar o vetor em ordem decrescente. Em seguida, exiba o vetor </a:t>
            </a:r>
            <a:r>
              <a:rPr lang="pt-BR" dirty="0" smtClean="0"/>
              <a:t>ordenado.</a:t>
            </a:r>
          </a:p>
          <a:p>
            <a:pPr marL="0" indent="0" algn="just">
              <a:buNone/>
            </a:pPr>
            <a:r>
              <a:rPr lang="pt-BR" dirty="0" smtClean="0"/>
              <a:t>3- Maior </a:t>
            </a:r>
            <a:r>
              <a:rPr lang="pt-BR" dirty="0"/>
              <a:t>e Menor Elemento: Crie um programa que leia um vetor com 12 números inteiros e utilize o algoritmo de </a:t>
            </a:r>
            <a:r>
              <a:rPr lang="pt-BR" dirty="0" err="1"/>
              <a:t>Selection</a:t>
            </a:r>
            <a:r>
              <a:rPr lang="pt-BR" dirty="0"/>
              <a:t> </a:t>
            </a:r>
            <a:r>
              <a:rPr lang="pt-BR" dirty="0" err="1"/>
              <a:t>Sort</a:t>
            </a:r>
            <a:r>
              <a:rPr lang="pt-BR" dirty="0"/>
              <a:t> para encontrar e exibir o maior e o menor elemento presente no vetor.</a:t>
            </a:r>
          </a:p>
          <a:p>
            <a:pPr marL="0" indent="0">
              <a:buNone/>
            </a:pPr>
            <a:endParaRPr lang="pt-BR" dirty="0"/>
          </a:p>
        </p:txBody>
      </p:sp>
    </p:spTree>
    <p:extLst>
      <p:ext uri="{BB962C8B-B14F-4D97-AF65-F5344CB8AC3E}">
        <p14:creationId xmlns:p14="http://schemas.microsoft.com/office/powerpoint/2010/main" val="3792749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Atividade</a:t>
            </a:r>
            <a:endParaRPr lang="pt-BR" dirty="0"/>
          </a:p>
        </p:txBody>
      </p:sp>
      <p:sp>
        <p:nvSpPr>
          <p:cNvPr id="3" name="Espaço Reservado para Conteúdo 2"/>
          <p:cNvSpPr>
            <a:spLocks noGrp="1"/>
          </p:cNvSpPr>
          <p:nvPr>
            <p:ph sz="quarter" idx="10"/>
          </p:nvPr>
        </p:nvSpPr>
        <p:spPr/>
        <p:txBody>
          <a:bodyPr/>
          <a:lstStyle/>
          <a:p>
            <a:pPr marL="0" indent="0">
              <a:buNone/>
            </a:pPr>
            <a:r>
              <a:rPr lang="pt-BR" dirty="0" smtClean="0"/>
              <a:t>4- </a:t>
            </a:r>
            <a:r>
              <a:rPr lang="pt-BR" dirty="0"/>
              <a:t>Números Pares e Ímpares: Crie um programa que leia um vetor com 15 números inteiros e utilize o algoritmo de </a:t>
            </a:r>
            <a:r>
              <a:rPr lang="pt-BR" dirty="0" err="1"/>
              <a:t>Selection</a:t>
            </a:r>
            <a:r>
              <a:rPr lang="pt-BR" dirty="0"/>
              <a:t> </a:t>
            </a:r>
            <a:r>
              <a:rPr lang="pt-BR" dirty="0" err="1"/>
              <a:t>Sort</a:t>
            </a:r>
            <a:r>
              <a:rPr lang="pt-BR" dirty="0"/>
              <a:t> para separar os números pares dos números ímpares. Em seguida, exiba os números pares e os números ímpares em vetores separados.</a:t>
            </a:r>
          </a:p>
          <a:p>
            <a:pPr marL="0" indent="0">
              <a:buNone/>
            </a:pPr>
            <a:r>
              <a:rPr lang="pt-BR" dirty="0" smtClean="0"/>
              <a:t>5- Média </a:t>
            </a:r>
            <a:r>
              <a:rPr lang="pt-BR" dirty="0"/>
              <a:t>dos Elementos: Crie um programa que leia um vetor com 9 números reais e utilize o algoritmo de </a:t>
            </a:r>
            <a:r>
              <a:rPr lang="pt-BR" dirty="0" err="1"/>
              <a:t>Selection</a:t>
            </a:r>
            <a:r>
              <a:rPr lang="pt-BR" dirty="0"/>
              <a:t> </a:t>
            </a:r>
            <a:r>
              <a:rPr lang="pt-BR" dirty="0" err="1"/>
              <a:t>Sort</a:t>
            </a:r>
            <a:r>
              <a:rPr lang="pt-BR" dirty="0"/>
              <a:t> para ordenar o vetor em ordem crescente. Em seguida, calcule e exiba a média dos elementos do vetor.</a:t>
            </a:r>
          </a:p>
          <a:p>
            <a:pPr marL="0" indent="0">
              <a:buNone/>
            </a:pPr>
            <a:r>
              <a:rPr lang="pt-BR" dirty="0" smtClean="0"/>
              <a:t>6- Inversão </a:t>
            </a:r>
            <a:r>
              <a:rPr lang="pt-BR" dirty="0"/>
              <a:t>de Vetor: Crie um programa que leia um vetor com 10 números inteiros e utilize o algoritmo de </a:t>
            </a:r>
            <a:r>
              <a:rPr lang="pt-BR" dirty="0" err="1"/>
              <a:t>Selection</a:t>
            </a:r>
            <a:r>
              <a:rPr lang="pt-BR" dirty="0"/>
              <a:t> </a:t>
            </a:r>
            <a:r>
              <a:rPr lang="pt-BR" dirty="0" err="1"/>
              <a:t>Sort</a:t>
            </a:r>
            <a:r>
              <a:rPr lang="pt-BR" dirty="0"/>
              <a:t> para ordenar o vetor em ordem crescente. Depois, crie um novo vetor com os elementos do vetor original em ordem inversa e exiba-o.</a:t>
            </a:r>
          </a:p>
          <a:p>
            <a:pPr marL="0" indent="0">
              <a:buNone/>
            </a:pPr>
            <a:endParaRPr lang="pt-BR" dirty="0"/>
          </a:p>
        </p:txBody>
      </p:sp>
    </p:spTree>
    <p:extLst>
      <p:ext uri="{BB962C8B-B14F-4D97-AF65-F5344CB8AC3E}">
        <p14:creationId xmlns:p14="http://schemas.microsoft.com/office/powerpoint/2010/main" val="10714896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Bubble</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	</a:t>
            </a:r>
            <a:r>
              <a:rPr lang="pt-BR" dirty="0" err="1" smtClean="0"/>
              <a:t>Bubble</a:t>
            </a:r>
            <a:r>
              <a:rPr lang="pt-BR" dirty="0" smtClean="0"/>
              <a:t> </a:t>
            </a:r>
            <a:r>
              <a:rPr lang="pt-BR" dirty="0" err="1"/>
              <a:t>Sort</a:t>
            </a:r>
            <a:r>
              <a:rPr lang="pt-BR" dirty="0"/>
              <a:t> é um algoritmo de ordenação que pode ser aplicado em </a:t>
            </a:r>
            <a:r>
              <a:rPr lang="pt-BR" dirty="0" err="1"/>
              <a:t>Arrays</a:t>
            </a:r>
            <a:r>
              <a:rPr lang="pt-BR" dirty="0"/>
              <a:t> e Listas dinâmicas. Se o objetivo é ordenar os valores em forma decrescente, então, a posição atual é comparada com a próxima posição e, se a posição atual for maior que a posição posterior, é realizada a troca dos valores nessa posição. Caso contrário, não é realizada a troca, apenas passa-se para o próximo par de comparações.</a:t>
            </a:r>
          </a:p>
          <a:p>
            <a:pPr marL="0" indent="0" algn="just">
              <a:buNone/>
            </a:pPr>
            <a:r>
              <a:rPr lang="pt-BR" dirty="0" smtClean="0"/>
              <a:t>	Se </a:t>
            </a:r>
            <a:r>
              <a:rPr lang="pt-BR" dirty="0"/>
              <a:t>o objetivo é ordenar os valores em forma crescente, então, a posição atual é comparada com a próxima posição e, se a posição atual for menor que a posição posterior, é realizada a troca. Caso contrário, a troca não é feita e passa-se para o próximo par de comparação.</a:t>
            </a:r>
          </a:p>
        </p:txBody>
      </p:sp>
    </p:spTree>
    <p:extLst>
      <p:ext uri="{BB962C8B-B14F-4D97-AF65-F5344CB8AC3E}">
        <p14:creationId xmlns:p14="http://schemas.microsoft.com/office/powerpoint/2010/main" val="2355203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Bubble</a:t>
            </a:r>
            <a:r>
              <a:rPr lang="pt-BR" dirty="0" smtClean="0"/>
              <a:t> </a:t>
            </a:r>
            <a:r>
              <a:rPr lang="pt-BR" dirty="0" err="1" smtClean="0"/>
              <a:t>Sort</a:t>
            </a:r>
            <a:endParaRPr lang="pt-BR" dirty="0"/>
          </a:p>
        </p:txBody>
      </p:sp>
      <p:pic>
        <p:nvPicPr>
          <p:cNvPr id="3078" name="Picture 6" descr="Bubble sort – Wikipédia, a enciclopédia livre"/>
          <p:cNvPicPr>
            <a:picLocks noGrp="1" noChangeAspect="1" noChangeArrowheads="1" noCrop="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3490291" y="1474098"/>
            <a:ext cx="5554317" cy="470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3205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Bubble</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a:xfrm>
            <a:off x="838200" y="1484784"/>
            <a:ext cx="3116580" cy="4860000"/>
          </a:xfrm>
        </p:spPr>
        <p:txBody>
          <a:bodyPr/>
          <a:lstStyle/>
          <a:p>
            <a:pPr algn="just"/>
            <a:r>
              <a:rPr lang="pt-BR" dirty="0" smtClean="0"/>
              <a:t>Realiza ordenação por troca</a:t>
            </a:r>
          </a:p>
          <a:p>
            <a:pPr algn="just"/>
            <a:r>
              <a:rPr lang="pt-BR" dirty="0" smtClean="0"/>
              <a:t>Percorre o vetor várias vezes, comparando um elemento com o seu sucessor</a:t>
            </a:r>
            <a:endParaRPr lang="pt-BR" dirty="0"/>
          </a:p>
        </p:txBody>
      </p:sp>
      <p:pic>
        <p:nvPicPr>
          <p:cNvPr id="4" name="Imagem 3"/>
          <p:cNvPicPr>
            <a:picLocks noChangeAspect="1"/>
          </p:cNvPicPr>
          <p:nvPr/>
        </p:nvPicPr>
        <p:blipFill>
          <a:blip r:embed="rId2"/>
          <a:stretch>
            <a:fillRect/>
          </a:stretch>
        </p:blipFill>
        <p:spPr>
          <a:xfrm>
            <a:off x="7559800" y="1888761"/>
            <a:ext cx="3799999" cy="3889586"/>
          </a:xfrm>
          <a:prstGeom prst="rect">
            <a:avLst/>
          </a:prstGeom>
        </p:spPr>
      </p:pic>
      <p:pic>
        <p:nvPicPr>
          <p:cNvPr id="1026" name="Picture 2" descr="File:Sorting bubblesort anim.gif - Wikimedia Common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954780" y="2301833"/>
            <a:ext cx="3465351" cy="3215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312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Bubble</a:t>
            </a:r>
            <a:r>
              <a:rPr lang="pt-BR" dirty="0"/>
              <a:t> </a:t>
            </a:r>
            <a:r>
              <a:rPr lang="pt-BR" dirty="0" err="1"/>
              <a:t>Sort</a:t>
            </a:r>
            <a:endParaRPr lang="pt-BR" dirty="0"/>
          </a:p>
        </p:txBody>
      </p:sp>
      <p:sp>
        <p:nvSpPr>
          <p:cNvPr id="3" name="Espaço Reservado para Conteúdo 2"/>
          <p:cNvSpPr>
            <a:spLocks noGrp="1"/>
          </p:cNvSpPr>
          <p:nvPr>
            <p:ph sz="quarter" idx="10"/>
          </p:nvPr>
        </p:nvSpPr>
        <p:spPr/>
        <p:txBody>
          <a:bodyPr/>
          <a:lstStyle/>
          <a:p>
            <a:r>
              <a:rPr lang="pt-BR" dirty="0"/>
              <a:t>Explicar no algoritmo</a:t>
            </a:r>
          </a:p>
          <a:p>
            <a:pPr marL="0" indent="0">
              <a:buNone/>
            </a:pPr>
            <a:endParaRPr lang="pt-BR" dirty="0"/>
          </a:p>
        </p:txBody>
      </p:sp>
    </p:spTree>
    <p:extLst>
      <p:ext uri="{BB962C8B-B14F-4D97-AF65-F5344CB8AC3E}">
        <p14:creationId xmlns:p14="http://schemas.microsoft.com/office/powerpoint/2010/main" val="21628117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Atividade </a:t>
            </a:r>
            <a:r>
              <a:rPr lang="pt-BR" dirty="0" err="1" smtClean="0"/>
              <a:t>bubble</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buNone/>
            </a:pPr>
            <a:r>
              <a:rPr lang="pt-BR" dirty="0" smtClean="0"/>
              <a:t>1- Ordenar um vetor de 15 posições em ordem crescente e decrescente. Exibir as duas ordens e o vetor original</a:t>
            </a:r>
          </a:p>
          <a:p>
            <a:pPr marL="0" indent="0">
              <a:buNone/>
            </a:pPr>
            <a:endParaRPr lang="pt-BR" dirty="0" smtClean="0"/>
          </a:p>
          <a:p>
            <a:pPr marL="0" indent="0">
              <a:buNone/>
            </a:pPr>
            <a:endParaRPr lang="pt-BR" dirty="0" smtClean="0"/>
          </a:p>
          <a:p>
            <a:pPr marL="0" indent="0">
              <a:buNone/>
            </a:pPr>
            <a:endParaRPr lang="pt-BR" dirty="0"/>
          </a:p>
          <a:p>
            <a:pPr marL="0" indent="0">
              <a:buNone/>
            </a:pPr>
            <a:r>
              <a:rPr lang="pt-BR" dirty="0" smtClean="0"/>
              <a:t>2- Ordene os números 1,5,6,9,7,10,598,218,55</a:t>
            </a:r>
          </a:p>
          <a:p>
            <a:pPr marL="0" indent="0">
              <a:buNone/>
            </a:pPr>
            <a:endParaRPr lang="pt-BR" dirty="0"/>
          </a:p>
          <a:p>
            <a:pPr marL="0" indent="0">
              <a:buNone/>
            </a:pPr>
            <a:r>
              <a:rPr lang="pt-BR" dirty="0" smtClean="0"/>
              <a:t>3-Ordene </a:t>
            </a:r>
            <a:r>
              <a:rPr lang="pt-BR" dirty="0"/>
              <a:t>os </a:t>
            </a:r>
            <a:r>
              <a:rPr lang="pt-BR" dirty="0" smtClean="0"/>
              <a:t>números 58,15,2,0,1,8,30,100</a:t>
            </a:r>
            <a:endParaRPr lang="pt-BR" dirty="0"/>
          </a:p>
          <a:p>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378330161"/>
              </p:ext>
            </p:extLst>
          </p:nvPr>
        </p:nvGraphicFramePr>
        <p:xfrm>
          <a:off x="838200" y="2628676"/>
          <a:ext cx="10359195" cy="741680"/>
        </p:xfrm>
        <a:graphic>
          <a:graphicData uri="http://schemas.openxmlformats.org/drawingml/2006/table">
            <a:tbl>
              <a:tblPr firstRow="1" bandRow="1">
                <a:tableStyleId>{5C22544A-7EE6-4342-B048-85BDC9FD1C3A}</a:tableStyleId>
              </a:tblPr>
              <a:tblGrid>
                <a:gridCol w="690613">
                  <a:extLst>
                    <a:ext uri="{9D8B030D-6E8A-4147-A177-3AD203B41FA5}">
                      <a16:colId xmlns:a16="http://schemas.microsoft.com/office/drawing/2014/main" val="3346567775"/>
                    </a:ext>
                  </a:extLst>
                </a:gridCol>
                <a:gridCol w="690613">
                  <a:extLst>
                    <a:ext uri="{9D8B030D-6E8A-4147-A177-3AD203B41FA5}">
                      <a16:colId xmlns:a16="http://schemas.microsoft.com/office/drawing/2014/main" val="3268325696"/>
                    </a:ext>
                  </a:extLst>
                </a:gridCol>
                <a:gridCol w="690613">
                  <a:extLst>
                    <a:ext uri="{9D8B030D-6E8A-4147-A177-3AD203B41FA5}">
                      <a16:colId xmlns:a16="http://schemas.microsoft.com/office/drawing/2014/main" val="3476038708"/>
                    </a:ext>
                  </a:extLst>
                </a:gridCol>
                <a:gridCol w="690613">
                  <a:extLst>
                    <a:ext uri="{9D8B030D-6E8A-4147-A177-3AD203B41FA5}">
                      <a16:colId xmlns:a16="http://schemas.microsoft.com/office/drawing/2014/main" val="461913380"/>
                    </a:ext>
                  </a:extLst>
                </a:gridCol>
                <a:gridCol w="690613">
                  <a:extLst>
                    <a:ext uri="{9D8B030D-6E8A-4147-A177-3AD203B41FA5}">
                      <a16:colId xmlns:a16="http://schemas.microsoft.com/office/drawing/2014/main" val="2224345307"/>
                    </a:ext>
                  </a:extLst>
                </a:gridCol>
                <a:gridCol w="690613">
                  <a:extLst>
                    <a:ext uri="{9D8B030D-6E8A-4147-A177-3AD203B41FA5}">
                      <a16:colId xmlns:a16="http://schemas.microsoft.com/office/drawing/2014/main" val="2409430381"/>
                    </a:ext>
                  </a:extLst>
                </a:gridCol>
                <a:gridCol w="690613">
                  <a:extLst>
                    <a:ext uri="{9D8B030D-6E8A-4147-A177-3AD203B41FA5}">
                      <a16:colId xmlns:a16="http://schemas.microsoft.com/office/drawing/2014/main" val="2350752417"/>
                    </a:ext>
                  </a:extLst>
                </a:gridCol>
                <a:gridCol w="690613">
                  <a:extLst>
                    <a:ext uri="{9D8B030D-6E8A-4147-A177-3AD203B41FA5}">
                      <a16:colId xmlns:a16="http://schemas.microsoft.com/office/drawing/2014/main" val="1361080110"/>
                    </a:ext>
                  </a:extLst>
                </a:gridCol>
                <a:gridCol w="690613">
                  <a:extLst>
                    <a:ext uri="{9D8B030D-6E8A-4147-A177-3AD203B41FA5}">
                      <a16:colId xmlns:a16="http://schemas.microsoft.com/office/drawing/2014/main" val="2020569699"/>
                    </a:ext>
                  </a:extLst>
                </a:gridCol>
                <a:gridCol w="690613">
                  <a:extLst>
                    <a:ext uri="{9D8B030D-6E8A-4147-A177-3AD203B41FA5}">
                      <a16:colId xmlns:a16="http://schemas.microsoft.com/office/drawing/2014/main" val="2656481512"/>
                    </a:ext>
                  </a:extLst>
                </a:gridCol>
                <a:gridCol w="690613">
                  <a:extLst>
                    <a:ext uri="{9D8B030D-6E8A-4147-A177-3AD203B41FA5}">
                      <a16:colId xmlns:a16="http://schemas.microsoft.com/office/drawing/2014/main" val="2269707164"/>
                    </a:ext>
                  </a:extLst>
                </a:gridCol>
                <a:gridCol w="690613">
                  <a:extLst>
                    <a:ext uri="{9D8B030D-6E8A-4147-A177-3AD203B41FA5}">
                      <a16:colId xmlns:a16="http://schemas.microsoft.com/office/drawing/2014/main" val="354664292"/>
                    </a:ext>
                  </a:extLst>
                </a:gridCol>
                <a:gridCol w="690613">
                  <a:extLst>
                    <a:ext uri="{9D8B030D-6E8A-4147-A177-3AD203B41FA5}">
                      <a16:colId xmlns:a16="http://schemas.microsoft.com/office/drawing/2014/main" val="3369340465"/>
                    </a:ext>
                  </a:extLst>
                </a:gridCol>
                <a:gridCol w="690613">
                  <a:extLst>
                    <a:ext uri="{9D8B030D-6E8A-4147-A177-3AD203B41FA5}">
                      <a16:colId xmlns:a16="http://schemas.microsoft.com/office/drawing/2014/main" val="2644494236"/>
                    </a:ext>
                  </a:extLst>
                </a:gridCol>
                <a:gridCol w="690613">
                  <a:extLst>
                    <a:ext uri="{9D8B030D-6E8A-4147-A177-3AD203B41FA5}">
                      <a16:colId xmlns:a16="http://schemas.microsoft.com/office/drawing/2014/main" val="3720167581"/>
                    </a:ext>
                  </a:extLst>
                </a:gridCol>
              </a:tblGrid>
              <a:tr h="370840">
                <a:tc>
                  <a:txBody>
                    <a:bodyPr/>
                    <a:lstStyle/>
                    <a:p>
                      <a:r>
                        <a:rPr lang="pt-BR" dirty="0" smtClean="0"/>
                        <a:t>0</a:t>
                      </a:r>
                    </a:p>
                  </a:txBody>
                  <a:tcPr/>
                </a:tc>
                <a:tc>
                  <a:txBody>
                    <a:bodyPr/>
                    <a:lstStyle/>
                    <a:p>
                      <a:r>
                        <a:rPr lang="pt-BR" dirty="0" smtClean="0"/>
                        <a:t>1</a:t>
                      </a:r>
                      <a:endParaRPr lang="pt-BR" dirty="0"/>
                    </a:p>
                  </a:txBody>
                  <a:tcPr/>
                </a:tc>
                <a:tc>
                  <a:txBody>
                    <a:bodyPr/>
                    <a:lstStyle/>
                    <a:p>
                      <a:r>
                        <a:rPr lang="pt-BR" dirty="0" smtClean="0"/>
                        <a:t>2</a:t>
                      </a:r>
                      <a:endParaRPr lang="pt-BR" dirty="0"/>
                    </a:p>
                  </a:txBody>
                  <a:tcPr/>
                </a:tc>
                <a:tc>
                  <a:txBody>
                    <a:bodyPr/>
                    <a:lstStyle/>
                    <a:p>
                      <a:r>
                        <a:rPr lang="pt-BR" dirty="0" smtClean="0"/>
                        <a:t>3</a:t>
                      </a:r>
                      <a:endParaRPr lang="pt-BR" dirty="0"/>
                    </a:p>
                  </a:txBody>
                  <a:tcPr/>
                </a:tc>
                <a:tc>
                  <a:txBody>
                    <a:bodyPr/>
                    <a:lstStyle/>
                    <a:p>
                      <a:r>
                        <a:rPr lang="pt-BR" dirty="0" smtClean="0"/>
                        <a:t>4</a:t>
                      </a:r>
                      <a:endParaRPr lang="pt-BR" dirty="0"/>
                    </a:p>
                  </a:txBody>
                  <a:tcPr/>
                </a:tc>
                <a:tc>
                  <a:txBody>
                    <a:bodyPr/>
                    <a:lstStyle/>
                    <a:p>
                      <a:r>
                        <a:rPr lang="pt-BR" dirty="0" smtClean="0"/>
                        <a:t>5</a:t>
                      </a:r>
                      <a:endParaRPr lang="pt-BR" dirty="0"/>
                    </a:p>
                  </a:txBody>
                  <a:tcPr/>
                </a:tc>
                <a:tc>
                  <a:txBody>
                    <a:bodyPr/>
                    <a:lstStyle/>
                    <a:p>
                      <a:r>
                        <a:rPr lang="pt-BR" dirty="0" smtClean="0"/>
                        <a:t>6</a:t>
                      </a:r>
                      <a:endParaRPr lang="pt-BR" dirty="0"/>
                    </a:p>
                  </a:txBody>
                  <a:tcPr/>
                </a:tc>
                <a:tc>
                  <a:txBody>
                    <a:bodyPr/>
                    <a:lstStyle/>
                    <a:p>
                      <a:r>
                        <a:rPr lang="pt-BR" dirty="0" smtClean="0"/>
                        <a:t>7</a:t>
                      </a:r>
                      <a:endParaRPr lang="pt-BR" dirty="0"/>
                    </a:p>
                  </a:txBody>
                  <a:tcPr/>
                </a:tc>
                <a:tc>
                  <a:txBody>
                    <a:bodyPr/>
                    <a:lstStyle/>
                    <a:p>
                      <a:r>
                        <a:rPr lang="pt-BR" dirty="0" smtClean="0"/>
                        <a:t>8</a:t>
                      </a:r>
                      <a:endParaRPr lang="pt-BR" dirty="0"/>
                    </a:p>
                  </a:txBody>
                  <a:tcPr/>
                </a:tc>
                <a:tc>
                  <a:txBody>
                    <a:bodyPr/>
                    <a:lstStyle/>
                    <a:p>
                      <a:r>
                        <a:rPr lang="pt-BR" dirty="0" smtClean="0"/>
                        <a:t>9</a:t>
                      </a:r>
                      <a:endParaRPr lang="pt-BR" dirty="0"/>
                    </a:p>
                  </a:txBody>
                  <a:tcPr/>
                </a:tc>
                <a:tc>
                  <a:txBody>
                    <a:bodyPr/>
                    <a:lstStyle/>
                    <a:p>
                      <a:r>
                        <a:rPr lang="pt-BR" dirty="0" smtClean="0"/>
                        <a:t>10</a:t>
                      </a:r>
                      <a:endParaRPr lang="pt-BR" dirty="0"/>
                    </a:p>
                  </a:txBody>
                  <a:tcPr/>
                </a:tc>
                <a:tc>
                  <a:txBody>
                    <a:bodyPr/>
                    <a:lstStyle/>
                    <a:p>
                      <a:r>
                        <a:rPr lang="pt-BR" dirty="0" smtClean="0"/>
                        <a:t>11</a:t>
                      </a:r>
                      <a:endParaRPr lang="pt-BR" dirty="0"/>
                    </a:p>
                  </a:txBody>
                  <a:tcPr/>
                </a:tc>
                <a:tc>
                  <a:txBody>
                    <a:bodyPr/>
                    <a:lstStyle/>
                    <a:p>
                      <a:r>
                        <a:rPr lang="pt-BR" dirty="0" smtClean="0"/>
                        <a:t>12</a:t>
                      </a:r>
                      <a:endParaRPr lang="pt-BR" dirty="0"/>
                    </a:p>
                  </a:txBody>
                  <a:tcPr/>
                </a:tc>
                <a:tc>
                  <a:txBody>
                    <a:bodyPr/>
                    <a:lstStyle/>
                    <a:p>
                      <a:r>
                        <a:rPr lang="pt-BR" dirty="0" smtClean="0"/>
                        <a:t>13</a:t>
                      </a:r>
                      <a:endParaRPr lang="pt-BR" dirty="0"/>
                    </a:p>
                  </a:txBody>
                  <a:tcPr/>
                </a:tc>
                <a:tc>
                  <a:txBody>
                    <a:bodyPr/>
                    <a:lstStyle/>
                    <a:p>
                      <a:r>
                        <a:rPr lang="pt-BR" dirty="0" smtClean="0"/>
                        <a:t>14</a:t>
                      </a:r>
                      <a:endParaRPr lang="pt-BR" dirty="0"/>
                    </a:p>
                  </a:txBody>
                  <a:tcPr/>
                </a:tc>
                <a:extLst>
                  <a:ext uri="{0D108BD9-81ED-4DB2-BD59-A6C34878D82A}">
                    <a16:rowId xmlns:a16="http://schemas.microsoft.com/office/drawing/2014/main" val="3447084749"/>
                  </a:ext>
                </a:extLst>
              </a:tr>
              <a:tr h="370840">
                <a:tc>
                  <a:txBody>
                    <a:bodyPr/>
                    <a:lstStyle/>
                    <a:p>
                      <a:endParaRPr lang="pt-BR" dirty="0" smtClean="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tc>
                  <a:txBody>
                    <a:bodyPr/>
                    <a:lstStyle/>
                    <a:p>
                      <a:endParaRPr lang="pt-BR" dirty="0"/>
                    </a:p>
                  </a:txBody>
                  <a:tcPr/>
                </a:tc>
                <a:extLst>
                  <a:ext uri="{0D108BD9-81ED-4DB2-BD59-A6C34878D82A}">
                    <a16:rowId xmlns:a16="http://schemas.microsoft.com/office/drawing/2014/main" val="1053271384"/>
                  </a:ext>
                </a:extLst>
              </a:tr>
            </a:tbl>
          </a:graphicData>
        </a:graphic>
      </p:graphicFrame>
    </p:spTree>
    <p:extLst>
      <p:ext uri="{BB962C8B-B14F-4D97-AF65-F5344CB8AC3E}">
        <p14:creationId xmlns:p14="http://schemas.microsoft.com/office/powerpoint/2010/main" val="21482798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Comb</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	O </a:t>
            </a:r>
            <a:r>
              <a:rPr lang="pt-BR" dirty="0"/>
              <a:t>algoritmo de ordenação </a:t>
            </a:r>
            <a:r>
              <a:rPr lang="pt-BR" dirty="0" err="1"/>
              <a:t>Comb</a:t>
            </a:r>
            <a:r>
              <a:rPr lang="pt-BR" dirty="0"/>
              <a:t> </a:t>
            </a:r>
            <a:r>
              <a:rPr lang="pt-BR" dirty="0" err="1"/>
              <a:t>Sort</a:t>
            </a:r>
            <a:r>
              <a:rPr lang="pt-BR" dirty="0"/>
              <a:t> é uma variação do algoritmo </a:t>
            </a:r>
            <a:r>
              <a:rPr lang="pt-BR" dirty="0" err="1"/>
              <a:t>Bubble</a:t>
            </a:r>
            <a:r>
              <a:rPr lang="pt-BR" dirty="0"/>
              <a:t> </a:t>
            </a:r>
            <a:r>
              <a:rPr lang="pt-BR" dirty="0" err="1"/>
              <a:t>Sort</a:t>
            </a:r>
            <a:r>
              <a:rPr lang="pt-BR" dirty="0"/>
              <a:t> que busca melhorar o desempenho em casos de ordenação de vetores com elementos distantes de suas posições finais</a:t>
            </a:r>
            <a:r>
              <a:rPr lang="pt-BR" dirty="0" smtClean="0"/>
              <a:t>.</a:t>
            </a:r>
            <a:endParaRPr lang="pt-BR" dirty="0"/>
          </a:p>
          <a:p>
            <a:pPr marL="0" indent="0" algn="just">
              <a:buNone/>
            </a:pPr>
            <a:r>
              <a:rPr lang="pt-BR" dirty="0" smtClean="0"/>
              <a:t>	O </a:t>
            </a:r>
            <a:r>
              <a:rPr lang="pt-BR" dirty="0"/>
              <a:t>funcionamento do </a:t>
            </a:r>
            <a:r>
              <a:rPr lang="pt-BR" dirty="0" err="1"/>
              <a:t>Comb</a:t>
            </a:r>
            <a:r>
              <a:rPr lang="pt-BR" dirty="0"/>
              <a:t> </a:t>
            </a:r>
            <a:r>
              <a:rPr lang="pt-BR" dirty="0" err="1"/>
              <a:t>Sort</a:t>
            </a:r>
            <a:r>
              <a:rPr lang="pt-BR" dirty="0"/>
              <a:t> é baseado em uma ideia simples, porém eficaz. Ele utiliza um parâmetro chamado de "gap" (lacuna) que representa a distância entre os elementos que serão comparados e trocados durante o processo de ordenação.</a:t>
            </a:r>
          </a:p>
        </p:txBody>
      </p:sp>
    </p:spTree>
    <p:extLst>
      <p:ext uri="{BB962C8B-B14F-4D97-AF65-F5344CB8AC3E}">
        <p14:creationId xmlns:p14="http://schemas.microsoft.com/office/powerpoint/2010/main" val="36558683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Comb</a:t>
            </a:r>
            <a:r>
              <a:rPr lang="pt-BR" dirty="0" smtClean="0"/>
              <a:t> </a:t>
            </a:r>
            <a:r>
              <a:rPr lang="pt-BR" dirty="0" err="1" smtClean="0"/>
              <a:t>Sort</a:t>
            </a:r>
            <a:r>
              <a:rPr lang="pt-BR" dirty="0" smtClean="0"/>
              <a:t> - GAP</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	Inicialmente</a:t>
            </a:r>
            <a:r>
              <a:rPr lang="pt-BR" dirty="0"/>
              <a:t>, o valor do gap é definido como o tamanho total do vetor a ser ordenado. Em seguida, um fator de redução é aplicado ao gap em cada iteração, geralmente 1.3, embora outros valores também possam ser utilizados. Isso significa que o gap é reduzido em 30% a cada iteração.</a:t>
            </a:r>
          </a:p>
          <a:p>
            <a:pPr marL="0" indent="0" algn="just">
              <a:buNone/>
            </a:pPr>
            <a:r>
              <a:rPr lang="pt-BR" dirty="0" smtClean="0"/>
              <a:t>	O </a:t>
            </a:r>
            <a:r>
              <a:rPr lang="pt-BR" dirty="0"/>
              <a:t>algoritmo então percorre o vetor comparando os elementos que estão a uma distância de gap um do outro. Se o elemento da posição atual for maior do que o elemento que está gap posições à frente, ocorre uma troca entre eles. Esse processo é repetido enquanto o gap for maior ou igual a 1 e houver pelo menos uma troca realizada durante a iteração anterior.</a:t>
            </a:r>
          </a:p>
        </p:txBody>
      </p:sp>
    </p:spTree>
    <p:extLst>
      <p:ext uri="{BB962C8B-B14F-4D97-AF65-F5344CB8AC3E}">
        <p14:creationId xmlns:p14="http://schemas.microsoft.com/office/powerpoint/2010/main" val="1380745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Comb</a:t>
            </a:r>
            <a:r>
              <a:rPr lang="pt-BR" dirty="0" smtClean="0"/>
              <a:t> </a:t>
            </a:r>
            <a:r>
              <a:rPr lang="pt-BR" dirty="0" err="1" smtClean="0"/>
              <a:t>Sort</a:t>
            </a:r>
            <a:r>
              <a:rPr lang="pt-BR" dirty="0" smtClean="0"/>
              <a:t> - GAP</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	Após </a:t>
            </a:r>
            <a:r>
              <a:rPr lang="pt-BR" dirty="0"/>
              <a:t>percorrer todo o vetor com o gap atual, o valor do gap é atualizado e o processo é repetido. Essa etapa é realizada até que o gap seja igual a 1 e não ocorram mais trocas durante a iteração.</a:t>
            </a:r>
          </a:p>
        </p:txBody>
      </p:sp>
    </p:spTree>
    <p:extLst>
      <p:ext uri="{BB962C8B-B14F-4D97-AF65-F5344CB8AC3E}">
        <p14:creationId xmlns:p14="http://schemas.microsoft.com/office/powerpoint/2010/main" val="42671148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Comb</a:t>
            </a:r>
            <a:r>
              <a:rPr lang="pt-BR" dirty="0" smtClean="0"/>
              <a:t> </a:t>
            </a:r>
            <a:r>
              <a:rPr lang="pt-BR" dirty="0" err="1" smtClean="0"/>
              <a:t>Sort</a:t>
            </a:r>
            <a:endParaRPr lang="pt-BR" dirty="0"/>
          </a:p>
        </p:txBody>
      </p:sp>
      <p:pic>
        <p:nvPicPr>
          <p:cNvPr id="4" name="DX-dXwtIGa0"/>
          <p:cNvPicPr>
            <a:picLocks noGrp="1" noRot="1" noChangeAspect="1"/>
          </p:cNvPicPr>
          <p:nvPr>
            <p:ph sz="quarter" idx="10"/>
            <a:videoFile r:link="rId1"/>
          </p:nvPr>
        </p:nvPicPr>
        <p:blipFill>
          <a:blip r:embed="rId3"/>
          <a:stretch>
            <a:fillRect/>
          </a:stretch>
        </p:blipFill>
        <p:spPr>
          <a:xfrm>
            <a:off x="3810000" y="2628900"/>
            <a:ext cx="4572000" cy="2571750"/>
          </a:xfrm>
          <a:prstGeom prst="rect">
            <a:avLst/>
          </a:prstGeom>
        </p:spPr>
      </p:pic>
    </p:spTree>
    <p:extLst>
      <p:ext uri="{BB962C8B-B14F-4D97-AF65-F5344CB8AC3E}">
        <p14:creationId xmlns:p14="http://schemas.microsoft.com/office/powerpoint/2010/main" val="42096796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Comb</a:t>
            </a:r>
            <a:r>
              <a:rPr lang="pt-BR" dirty="0" smtClean="0"/>
              <a:t> </a:t>
            </a:r>
            <a:r>
              <a:rPr lang="pt-BR" dirty="0" err="1"/>
              <a:t>Sort</a:t>
            </a:r>
            <a:endParaRPr lang="pt-BR" dirty="0"/>
          </a:p>
        </p:txBody>
      </p:sp>
      <p:sp>
        <p:nvSpPr>
          <p:cNvPr id="3" name="Espaço Reservado para Conteúdo 2"/>
          <p:cNvSpPr>
            <a:spLocks noGrp="1"/>
          </p:cNvSpPr>
          <p:nvPr>
            <p:ph sz="quarter" idx="10"/>
          </p:nvPr>
        </p:nvSpPr>
        <p:spPr/>
        <p:txBody>
          <a:bodyPr/>
          <a:lstStyle/>
          <a:p>
            <a:r>
              <a:rPr lang="pt-BR" dirty="0"/>
              <a:t>Explicar no algoritmo</a:t>
            </a:r>
          </a:p>
          <a:p>
            <a:pPr marL="0" indent="0">
              <a:buNone/>
            </a:pPr>
            <a:endParaRPr lang="pt-BR" dirty="0"/>
          </a:p>
        </p:txBody>
      </p:sp>
    </p:spTree>
    <p:extLst>
      <p:ext uri="{BB962C8B-B14F-4D97-AF65-F5344CB8AC3E}">
        <p14:creationId xmlns:p14="http://schemas.microsoft.com/office/powerpoint/2010/main" val="34255028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Atividades</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a:t>Ordenação Decrescente: Faça um programa que leia uma lista de nomes de alunos e suas respectivas notas, e então ordene a lista em ordem decrescente de acordo com as notas. U</a:t>
            </a:r>
            <a:r>
              <a:rPr lang="pt-BR" dirty="0" smtClean="0"/>
              <a:t>sar  </a:t>
            </a:r>
            <a:r>
              <a:rPr lang="pt-BR" dirty="0" err="1" smtClean="0"/>
              <a:t>oComb</a:t>
            </a:r>
            <a:r>
              <a:rPr lang="pt-BR" dirty="0" smtClean="0"/>
              <a:t> </a:t>
            </a:r>
            <a:r>
              <a:rPr lang="pt-BR" dirty="0" err="1" smtClean="0"/>
              <a:t>Sort</a:t>
            </a:r>
            <a:r>
              <a:rPr lang="pt-BR" dirty="0" smtClean="0"/>
              <a:t>.</a:t>
            </a:r>
          </a:p>
          <a:p>
            <a:pPr marL="0" indent="0" algn="just">
              <a:buNone/>
            </a:pPr>
            <a:r>
              <a:rPr lang="pt-BR" dirty="0"/>
              <a:t>Ordenação Crescente: Escreva um programa que solicite ao usuário que insira uma lista de </a:t>
            </a:r>
            <a:r>
              <a:rPr lang="pt-BR" dirty="0" smtClean="0"/>
              <a:t>10 números </a:t>
            </a:r>
            <a:r>
              <a:rPr lang="pt-BR" dirty="0"/>
              <a:t>e, em seguida, ordene essa lista em ordem crescente. Você pode utilizar qualquer método de ordenação, como </a:t>
            </a:r>
            <a:r>
              <a:rPr lang="pt-BR" dirty="0" err="1"/>
              <a:t>Bubble</a:t>
            </a:r>
            <a:r>
              <a:rPr lang="pt-BR" dirty="0"/>
              <a:t> </a:t>
            </a:r>
            <a:r>
              <a:rPr lang="pt-BR" dirty="0" err="1"/>
              <a:t>Sort</a:t>
            </a:r>
            <a:r>
              <a:rPr lang="pt-BR" dirty="0"/>
              <a:t>, </a:t>
            </a:r>
            <a:r>
              <a:rPr lang="pt-BR" dirty="0" err="1"/>
              <a:t>Selection</a:t>
            </a:r>
            <a:r>
              <a:rPr lang="pt-BR" dirty="0"/>
              <a:t> </a:t>
            </a:r>
            <a:r>
              <a:rPr lang="pt-BR" dirty="0" err="1" smtClean="0"/>
              <a:t>Sort</a:t>
            </a:r>
            <a:r>
              <a:rPr lang="pt-BR" dirty="0" smtClean="0"/>
              <a:t> ou </a:t>
            </a:r>
            <a:r>
              <a:rPr lang="pt-BR" dirty="0" err="1"/>
              <a:t>Insertion</a:t>
            </a:r>
            <a:r>
              <a:rPr lang="pt-BR" dirty="0"/>
              <a:t> </a:t>
            </a:r>
            <a:r>
              <a:rPr lang="pt-BR" dirty="0" err="1" smtClean="0"/>
              <a:t>Sort</a:t>
            </a:r>
            <a:endParaRPr lang="pt-BR" dirty="0" smtClean="0"/>
          </a:p>
          <a:p>
            <a:pPr marL="0" indent="0" algn="just">
              <a:buNone/>
            </a:pPr>
            <a:r>
              <a:rPr lang="pt-BR" dirty="0" smtClean="0"/>
              <a:t>Escreva um programa que leia o nome e idade de 10 pessoas. Posterior, o usuário deverá informar qual método de ordenação ele irá utilizar para ordenar as idades em formato descrente. (métodos que o usuário poderá escolher são: </a:t>
            </a:r>
            <a:r>
              <a:rPr lang="pt-BR" dirty="0" err="1" smtClean="0"/>
              <a:t>Selection</a:t>
            </a:r>
            <a:r>
              <a:rPr lang="pt-BR" dirty="0" smtClean="0"/>
              <a:t>, </a:t>
            </a:r>
            <a:r>
              <a:rPr lang="pt-BR" dirty="0" err="1" smtClean="0"/>
              <a:t>Insertion</a:t>
            </a:r>
            <a:r>
              <a:rPr lang="pt-BR" dirty="0" smtClean="0"/>
              <a:t>, </a:t>
            </a:r>
            <a:r>
              <a:rPr lang="pt-BR" dirty="0" err="1" smtClean="0"/>
              <a:t>Bubble</a:t>
            </a:r>
            <a:r>
              <a:rPr lang="pt-BR" dirty="0" smtClean="0"/>
              <a:t> ou </a:t>
            </a:r>
            <a:r>
              <a:rPr lang="pt-BR" dirty="0" err="1" smtClean="0"/>
              <a:t>Comb</a:t>
            </a:r>
            <a:r>
              <a:rPr lang="pt-BR" dirty="0" smtClean="0"/>
              <a:t> Sorte ). Utilize uma função pra cada método de ordenação</a:t>
            </a:r>
            <a:endParaRPr lang="pt-BR" dirty="0"/>
          </a:p>
        </p:txBody>
      </p:sp>
    </p:spTree>
    <p:extLst>
      <p:ext uri="{BB962C8B-B14F-4D97-AF65-F5344CB8AC3E}">
        <p14:creationId xmlns:p14="http://schemas.microsoft.com/office/powerpoint/2010/main" val="21230231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Métodos Eficientes</a:t>
            </a:r>
            <a:endParaRPr lang="pt-BR" dirty="0"/>
          </a:p>
        </p:txBody>
      </p:sp>
    </p:spTree>
    <p:extLst>
      <p:ext uri="{BB962C8B-B14F-4D97-AF65-F5344CB8AC3E}">
        <p14:creationId xmlns:p14="http://schemas.microsoft.com/office/powerpoint/2010/main" val="42915022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Métodos Eficientes</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a:t>	Os métodos eficientes são mais complexos nos detalhes, requerem um número menor de comparações. São projetados para trabalhar com uma quantidade maior de dados e possuem </a:t>
            </a:r>
            <a:r>
              <a:rPr lang="pt-BR" dirty="0" smtClean="0"/>
              <a:t>complexidade. Exemplos</a:t>
            </a:r>
            <a:r>
              <a:rPr lang="pt-BR" dirty="0"/>
              <a:t>: </a:t>
            </a:r>
            <a:r>
              <a:rPr lang="pt-BR" dirty="0" err="1"/>
              <a:t>Quick</a:t>
            </a:r>
            <a:r>
              <a:rPr lang="pt-BR" dirty="0"/>
              <a:t> </a:t>
            </a:r>
            <a:r>
              <a:rPr lang="pt-BR" dirty="0" err="1"/>
              <a:t>sort</a:t>
            </a:r>
            <a:r>
              <a:rPr lang="pt-BR" dirty="0"/>
              <a:t>, Merge </a:t>
            </a:r>
            <a:r>
              <a:rPr lang="pt-BR" dirty="0" err="1"/>
              <a:t>sort</a:t>
            </a:r>
            <a:r>
              <a:rPr lang="pt-BR" dirty="0"/>
              <a:t>, Shell </a:t>
            </a:r>
            <a:r>
              <a:rPr lang="pt-BR" dirty="0" err="1"/>
              <a:t>sort</a:t>
            </a:r>
            <a:r>
              <a:rPr lang="pt-BR" dirty="0"/>
              <a:t>, </a:t>
            </a:r>
            <a:r>
              <a:rPr lang="pt-BR" dirty="0" err="1"/>
              <a:t>Heap</a:t>
            </a:r>
            <a:r>
              <a:rPr lang="pt-BR" dirty="0"/>
              <a:t> </a:t>
            </a:r>
            <a:r>
              <a:rPr lang="pt-BR" dirty="0" err="1"/>
              <a:t>sort</a:t>
            </a:r>
            <a:r>
              <a:rPr lang="pt-BR" dirty="0"/>
              <a:t>, </a:t>
            </a:r>
            <a:r>
              <a:rPr lang="pt-BR" dirty="0" err="1"/>
              <a:t>Radix</a:t>
            </a:r>
            <a:r>
              <a:rPr lang="pt-BR" dirty="0"/>
              <a:t> </a:t>
            </a:r>
            <a:r>
              <a:rPr lang="pt-BR" dirty="0" err="1"/>
              <a:t>sort</a:t>
            </a:r>
            <a:r>
              <a:rPr lang="pt-BR" dirty="0"/>
              <a:t>, </a:t>
            </a:r>
            <a:r>
              <a:rPr lang="pt-BR" dirty="0" err="1"/>
              <a:t>Gnome</a:t>
            </a:r>
            <a:r>
              <a:rPr lang="pt-BR" dirty="0"/>
              <a:t> </a:t>
            </a:r>
            <a:r>
              <a:rPr lang="pt-BR" dirty="0" err="1"/>
              <a:t>sort</a:t>
            </a:r>
            <a:r>
              <a:rPr lang="pt-BR" dirty="0"/>
              <a:t>, </a:t>
            </a:r>
            <a:r>
              <a:rPr lang="pt-BR" dirty="0" err="1"/>
              <a:t>Count</a:t>
            </a:r>
            <a:r>
              <a:rPr lang="pt-BR" dirty="0"/>
              <a:t> </a:t>
            </a:r>
            <a:r>
              <a:rPr lang="pt-BR" dirty="0" err="1"/>
              <a:t>sort</a:t>
            </a:r>
            <a:r>
              <a:rPr lang="pt-BR" dirty="0"/>
              <a:t>, </a:t>
            </a:r>
            <a:r>
              <a:rPr lang="pt-BR" dirty="0" err="1"/>
              <a:t>Bucket</a:t>
            </a:r>
            <a:r>
              <a:rPr lang="pt-BR" dirty="0"/>
              <a:t> </a:t>
            </a:r>
            <a:r>
              <a:rPr lang="pt-BR" dirty="0" err="1"/>
              <a:t>sort</a:t>
            </a:r>
            <a:r>
              <a:rPr lang="pt-BR" dirty="0"/>
              <a:t>, </a:t>
            </a:r>
            <a:r>
              <a:rPr lang="pt-BR" dirty="0" err="1"/>
              <a:t>Cocktail</a:t>
            </a:r>
            <a:r>
              <a:rPr lang="pt-BR" dirty="0"/>
              <a:t> </a:t>
            </a:r>
            <a:r>
              <a:rPr lang="pt-BR" dirty="0" err="1"/>
              <a:t>sort</a:t>
            </a:r>
            <a:r>
              <a:rPr lang="pt-BR" dirty="0"/>
              <a:t>, </a:t>
            </a:r>
            <a:r>
              <a:rPr lang="pt-BR" dirty="0" err="1"/>
              <a:t>Timsort</a:t>
            </a:r>
            <a:r>
              <a:rPr lang="pt-BR" dirty="0"/>
              <a:t>.</a:t>
            </a:r>
          </a:p>
        </p:txBody>
      </p:sp>
    </p:spTree>
    <p:extLst>
      <p:ext uri="{BB962C8B-B14F-4D97-AF65-F5344CB8AC3E}">
        <p14:creationId xmlns:p14="http://schemas.microsoft.com/office/powerpoint/2010/main" val="27582041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Quick</a:t>
            </a:r>
            <a:r>
              <a:rPr lang="pt-BR" dirty="0" smtClean="0"/>
              <a:t> </a:t>
            </a:r>
            <a:r>
              <a:rPr lang="pt-BR" dirty="0" err="1" smtClean="0"/>
              <a:t>Sort</a:t>
            </a:r>
            <a:endParaRPr lang="pt-BR" dirty="0"/>
          </a:p>
        </p:txBody>
      </p:sp>
      <p:sp>
        <p:nvSpPr>
          <p:cNvPr id="3" name="Espaço Reservado para Conteúdo 2"/>
          <p:cNvSpPr>
            <a:spLocks noGrp="1"/>
          </p:cNvSpPr>
          <p:nvPr>
            <p:ph sz="quarter" idx="10"/>
          </p:nvPr>
        </p:nvSpPr>
        <p:spPr/>
        <p:txBody>
          <a:bodyPr/>
          <a:lstStyle/>
          <a:p>
            <a:pPr marL="0" indent="0" algn="just">
              <a:buNone/>
            </a:pPr>
            <a:r>
              <a:rPr lang="pt-BR" dirty="0" smtClean="0"/>
              <a:t>	É </a:t>
            </a:r>
            <a:r>
              <a:rPr lang="pt-BR" dirty="0"/>
              <a:t>um algoritmo de comparação que emprega a estratégia de “divisão e conquista”. A ideia básica é dividir o problema de ordenar um conjunto com n itens em dois problemas menores. Os problemas menores são ordenados independentemente e os resultados são combinados para produzir a solução final.</a:t>
            </a:r>
          </a:p>
          <a:p>
            <a:pPr marL="0" indent="0" algn="just">
              <a:buNone/>
            </a:pPr>
            <a:endParaRPr lang="pt-BR" dirty="0"/>
          </a:p>
          <a:p>
            <a:pPr marL="0" indent="0" algn="just">
              <a:buNone/>
            </a:pPr>
            <a:r>
              <a:rPr lang="pt-BR" dirty="0" smtClean="0"/>
              <a:t>	Basicamente </a:t>
            </a:r>
            <a:r>
              <a:rPr lang="pt-BR" dirty="0"/>
              <a:t>a operação do algoritmo pode ser resumida na seguinte estratégia: divide sua lista de entrada em duas </a:t>
            </a:r>
            <a:r>
              <a:rPr lang="pt-BR" dirty="0" err="1"/>
              <a:t>sub-listas</a:t>
            </a:r>
            <a:r>
              <a:rPr lang="pt-BR" dirty="0"/>
              <a:t> a partir de um pivô, para em seguida realizar o mesmo procedimento nas duas listas menores até uma lista unitária.</a:t>
            </a:r>
          </a:p>
        </p:txBody>
      </p:sp>
    </p:spTree>
    <p:extLst>
      <p:ext uri="{BB962C8B-B14F-4D97-AF65-F5344CB8AC3E}">
        <p14:creationId xmlns:p14="http://schemas.microsoft.com/office/powerpoint/2010/main" val="22841131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Quick</a:t>
            </a:r>
            <a:r>
              <a:rPr lang="pt-BR" dirty="0" smtClean="0"/>
              <a:t> </a:t>
            </a:r>
            <a:r>
              <a:rPr lang="pt-BR" dirty="0" err="1" smtClean="0"/>
              <a:t>Sort</a:t>
            </a:r>
            <a:r>
              <a:rPr lang="pt-BR" dirty="0" smtClean="0"/>
              <a:t> - Funcionamento</a:t>
            </a:r>
            <a:endParaRPr lang="pt-BR" dirty="0"/>
          </a:p>
        </p:txBody>
      </p:sp>
      <p:sp>
        <p:nvSpPr>
          <p:cNvPr id="3" name="Espaço Reservado para Conteúdo 2"/>
          <p:cNvSpPr>
            <a:spLocks noGrp="1"/>
          </p:cNvSpPr>
          <p:nvPr>
            <p:ph sz="quarter" idx="10"/>
          </p:nvPr>
        </p:nvSpPr>
        <p:spPr>
          <a:xfrm>
            <a:off x="838200" y="1484784"/>
            <a:ext cx="10515600" cy="2252329"/>
          </a:xfrm>
        </p:spPr>
        <p:txBody>
          <a:bodyPr/>
          <a:lstStyle/>
          <a:p>
            <a:pPr algn="just" fontAlgn="base"/>
            <a:r>
              <a:rPr lang="pt-BR" dirty="0"/>
              <a:t>Escolhe um elemento da lista chamado pivô.</a:t>
            </a:r>
          </a:p>
          <a:p>
            <a:pPr algn="just" fontAlgn="base"/>
            <a:r>
              <a:rPr lang="pt-BR" dirty="0"/>
              <a:t>Reorganiza a lista de forma que os elementos menores que o pivô fiquem de um lado, e os maiores fiquem de outro. Esta operação é chamada de “</a:t>
            </a:r>
            <a:r>
              <a:rPr lang="pt-BR" dirty="0" err="1"/>
              <a:t>particionamento</a:t>
            </a:r>
            <a:r>
              <a:rPr lang="pt-BR" dirty="0"/>
              <a:t>”.</a:t>
            </a:r>
          </a:p>
          <a:p>
            <a:pPr algn="just" fontAlgn="base"/>
            <a:r>
              <a:rPr lang="pt-BR" dirty="0"/>
              <a:t>Recursivamente ordena a </a:t>
            </a:r>
            <a:r>
              <a:rPr lang="pt-BR" dirty="0" err="1"/>
              <a:t>sub-lista</a:t>
            </a:r>
            <a:r>
              <a:rPr lang="pt-BR" dirty="0"/>
              <a:t> abaixo e acima do pivô</a:t>
            </a:r>
            <a:r>
              <a:rPr lang="pt-BR" dirty="0" smtClean="0"/>
              <a:t>.</a:t>
            </a:r>
            <a:endParaRPr lang="pt-BR" dirty="0"/>
          </a:p>
        </p:txBody>
      </p:sp>
      <p:pic>
        <p:nvPicPr>
          <p:cNvPr id="1026" name="Picture 2" descr="https://d2m498l008ebpa.cloudfront.net/2016/12/quicksort.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011959" y="3956768"/>
            <a:ext cx="3283364" cy="250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9177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Quick</a:t>
            </a:r>
            <a:r>
              <a:rPr lang="pt-BR" dirty="0"/>
              <a:t> </a:t>
            </a:r>
            <a:r>
              <a:rPr lang="pt-BR" dirty="0" err="1"/>
              <a:t>Sort</a:t>
            </a:r>
            <a:r>
              <a:rPr lang="pt-BR" dirty="0"/>
              <a:t> - Funcionamento</a:t>
            </a:r>
          </a:p>
        </p:txBody>
      </p:sp>
      <p:pic>
        <p:nvPicPr>
          <p:cNvPr id="4" name="ywWBy6J5gz8"/>
          <p:cNvPicPr>
            <a:picLocks noGrp="1" noRot="1" noChangeAspect="1"/>
          </p:cNvPicPr>
          <p:nvPr>
            <p:ph sz="quarter" idx="10"/>
            <a:videoFile r:link="rId1"/>
          </p:nvPr>
        </p:nvPicPr>
        <p:blipFill>
          <a:blip r:embed="rId3"/>
          <a:stretch>
            <a:fillRect/>
          </a:stretch>
        </p:blipFill>
        <p:spPr>
          <a:xfrm>
            <a:off x="1471613" y="1312863"/>
            <a:ext cx="9115425" cy="5127625"/>
          </a:xfrm>
          <a:prstGeom prst="rect">
            <a:avLst/>
          </a:prstGeom>
        </p:spPr>
      </p:pic>
    </p:spTree>
    <p:extLst>
      <p:ext uri="{BB962C8B-B14F-4D97-AF65-F5344CB8AC3E}">
        <p14:creationId xmlns:p14="http://schemas.microsoft.com/office/powerpoint/2010/main" val="33379618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a:t>Quick</a:t>
            </a:r>
            <a:r>
              <a:rPr lang="pt-BR" dirty="0"/>
              <a:t> </a:t>
            </a:r>
            <a:r>
              <a:rPr lang="pt-BR" dirty="0" err="1"/>
              <a:t>Sort</a:t>
            </a:r>
            <a:endParaRPr lang="pt-BR" dirty="0"/>
          </a:p>
        </p:txBody>
      </p:sp>
      <p:sp>
        <p:nvSpPr>
          <p:cNvPr id="3" name="Espaço Reservado para Conteúdo 2"/>
          <p:cNvSpPr>
            <a:spLocks noGrp="1"/>
          </p:cNvSpPr>
          <p:nvPr>
            <p:ph sz="quarter" idx="10"/>
          </p:nvPr>
        </p:nvSpPr>
        <p:spPr/>
        <p:txBody>
          <a:bodyPr/>
          <a:lstStyle/>
          <a:p>
            <a:r>
              <a:rPr lang="pt-BR" dirty="0"/>
              <a:t>Explicar no algoritmo</a:t>
            </a:r>
          </a:p>
          <a:p>
            <a:pPr marL="0" indent="0">
              <a:buNone/>
            </a:pPr>
            <a:endParaRPr lang="pt-BR" dirty="0"/>
          </a:p>
        </p:txBody>
      </p:sp>
    </p:spTree>
    <p:extLst>
      <p:ext uri="{BB962C8B-B14F-4D97-AF65-F5344CB8AC3E}">
        <p14:creationId xmlns:p14="http://schemas.microsoft.com/office/powerpoint/2010/main" val="29121741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Atividade</a:t>
            </a:r>
            <a:endParaRPr lang="pt-BR" dirty="0"/>
          </a:p>
        </p:txBody>
      </p:sp>
      <p:sp>
        <p:nvSpPr>
          <p:cNvPr id="3" name="Espaço Reservado para Conteúdo 2"/>
          <p:cNvSpPr>
            <a:spLocks noGrp="1"/>
          </p:cNvSpPr>
          <p:nvPr>
            <p:ph sz="quarter" idx="10"/>
          </p:nvPr>
        </p:nvSpPr>
        <p:spPr/>
        <p:txBody>
          <a:bodyPr/>
          <a:lstStyle/>
          <a:p>
            <a:r>
              <a:rPr lang="pt-BR" dirty="0" smtClean="0"/>
              <a:t>Organize um vetor de 7 números utilizando  o método de ordenação </a:t>
            </a:r>
            <a:r>
              <a:rPr lang="pt-BR" dirty="0" err="1" smtClean="0"/>
              <a:t>Quick</a:t>
            </a:r>
            <a:r>
              <a:rPr lang="pt-BR" dirty="0" smtClean="0"/>
              <a:t> </a:t>
            </a:r>
            <a:r>
              <a:rPr lang="pt-BR" dirty="0" err="1" smtClean="0"/>
              <a:t>sort</a:t>
            </a:r>
            <a:endParaRPr lang="pt-BR" dirty="0" smtClean="0"/>
          </a:p>
          <a:p>
            <a:r>
              <a:rPr lang="pt-BR" dirty="0"/>
              <a:t>insira 5 valores em um vetor e aplique o </a:t>
            </a:r>
            <a:r>
              <a:rPr lang="pt-BR" dirty="0" err="1"/>
              <a:t>Quick</a:t>
            </a:r>
            <a:r>
              <a:rPr lang="pt-BR" dirty="0"/>
              <a:t> </a:t>
            </a:r>
            <a:r>
              <a:rPr lang="pt-BR" dirty="0" err="1" smtClean="0"/>
              <a:t>sort</a:t>
            </a:r>
            <a:r>
              <a:rPr lang="pt-BR" dirty="0" smtClean="0"/>
              <a:t> para </a:t>
            </a:r>
            <a:r>
              <a:rPr lang="pt-BR" dirty="0"/>
              <a:t>organizar o vetor de </a:t>
            </a:r>
            <a:r>
              <a:rPr lang="pt-BR"/>
              <a:t>forma </a:t>
            </a:r>
            <a:r>
              <a:rPr lang="pt-BR" smtClean="0"/>
              <a:t>decrescente</a:t>
            </a:r>
            <a:r>
              <a:rPr lang="pt-BR" dirty="0"/>
              <a:t>.</a:t>
            </a:r>
          </a:p>
          <a:p>
            <a:r>
              <a:rPr lang="pt-BR" dirty="0" smtClean="0"/>
              <a:t> </a:t>
            </a:r>
            <a:r>
              <a:rPr lang="pt-BR" dirty="0"/>
              <a:t>insira 50 valores em um vetor (sorteio) e utilizando o </a:t>
            </a:r>
            <a:r>
              <a:rPr lang="pt-BR" dirty="0" err="1"/>
              <a:t>Quick</a:t>
            </a:r>
            <a:r>
              <a:rPr lang="pt-BR" dirty="0"/>
              <a:t> </a:t>
            </a:r>
            <a:r>
              <a:rPr lang="pt-BR" dirty="0" err="1" smtClean="0"/>
              <a:t>sort</a:t>
            </a:r>
            <a:r>
              <a:rPr lang="pt-BR" dirty="0" smtClean="0"/>
              <a:t> em </a:t>
            </a:r>
            <a:r>
              <a:rPr lang="pt-BR" dirty="0"/>
              <a:t>uma função (passe o vetor como parâmetro), organize-o em forma crescente e decrescente. Exiba o vetor original,  crescente e decrescente.</a:t>
            </a:r>
          </a:p>
          <a:p>
            <a:endParaRPr lang="pt-BR" dirty="0" smtClean="0"/>
          </a:p>
          <a:p>
            <a:endParaRPr lang="pt-BR" dirty="0"/>
          </a:p>
        </p:txBody>
      </p:sp>
    </p:spTree>
    <p:extLst>
      <p:ext uri="{BB962C8B-B14F-4D97-AF65-F5344CB8AC3E}">
        <p14:creationId xmlns:p14="http://schemas.microsoft.com/office/powerpoint/2010/main" val="3684838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Merge </a:t>
            </a:r>
            <a:r>
              <a:rPr lang="pt-BR" dirty="0" err="1"/>
              <a:t>Sort</a:t>
            </a:r>
            <a:endParaRPr lang="pt-BR" dirty="0"/>
          </a:p>
        </p:txBody>
      </p:sp>
      <p:sp>
        <p:nvSpPr>
          <p:cNvPr id="3" name="Espaço Reservado para Conteúdo 2"/>
          <p:cNvSpPr>
            <a:spLocks noGrp="1"/>
          </p:cNvSpPr>
          <p:nvPr>
            <p:ph sz="quarter" idx="10"/>
          </p:nvPr>
        </p:nvSpPr>
        <p:spPr/>
        <p:txBody>
          <a:bodyPr/>
          <a:lstStyle/>
          <a:p>
            <a:pPr marL="0" indent="0" algn="just" fontAlgn="base">
              <a:buNone/>
            </a:pPr>
            <a:r>
              <a:rPr lang="pt-BR" dirty="0" smtClean="0"/>
              <a:t>	Esse </a:t>
            </a:r>
            <a:r>
              <a:rPr lang="pt-BR" dirty="0"/>
              <a:t>algoritmo divide o problema em pedaços menores, resolve cada pedaço e depois junta (merge) os resultados. O vetor será dividido em duas partes iguais, que serão cada uma divididas em duas partes, e assim até ficar um ou dois elementos cuja ordenação é trivial.</a:t>
            </a:r>
          </a:p>
          <a:p>
            <a:pPr marL="0" indent="0" algn="just" fontAlgn="base">
              <a:buNone/>
            </a:pPr>
            <a:r>
              <a:rPr lang="pt-BR" dirty="0" smtClean="0"/>
              <a:t>	Para </a:t>
            </a:r>
            <a:r>
              <a:rPr lang="pt-BR" dirty="0"/>
              <a:t>juntar as partes ordenadas os dois elementos de cada parte são separados e o menor deles é selecionado e retirado de sua parte. Em seguida os menores entre os restantes são comparados e assim se prossegue até juntar as partes.</a:t>
            </a:r>
          </a:p>
          <a:p>
            <a:pPr marL="0" indent="0">
              <a:buNone/>
            </a:pPr>
            <a:endParaRPr lang="pt-BR" dirty="0"/>
          </a:p>
        </p:txBody>
      </p:sp>
    </p:spTree>
    <p:extLst>
      <p:ext uri="{BB962C8B-B14F-4D97-AF65-F5344CB8AC3E}">
        <p14:creationId xmlns:p14="http://schemas.microsoft.com/office/powerpoint/2010/main" val="38116919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smtClean="0"/>
              <a:t>Merge </a:t>
            </a:r>
            <a:r>
              <a:rPr lang="pt-BR" dirty="0" err="1" smtClean="0"/>
              <a:t>Sort</a:t>
            </a:r>
            <a:endParaRPr lang="pt-BR" dirty="0"/>
          </a:p>
        </p:txBody>
      </p:sp>
      <p:pic>
        <p:nvPicPr>
          <p:cNvPr id="2050" name="Picture 2" descr="https://d2m498l008ebpa.cloudfront.net/2016/12/merge-sorte-animation.gif"/>
          <p:cNvPicPr>
            <a:picLocks noGrp="1" noChangeAspect="1" noChangeArrowheads="1" noCrop="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3391415" y="1493976"/>
            <a:ext cx="5415170" cy="4583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1649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smtClean="0"/>
              <a:t>Merge </a:t>
            </a:r>
            <a:r>
              <a:rPr lang="pt-BR" dirty="0" err="1" smtClean="0"/>
              <a:t>Sort</a:t>
            </a:r>
            <a:endParaRPr lang="pt-BR" dirty="0"/>
          </a:p>
        </p:txBody>
      </p:sp>
      <p:pic>
        <p:nvPicPr>
          <p:cNvPr id="2050" name="Picture 2" descr="https://d2m498l008ebpa.cloudfront.net/2016/12/merge-sorte-animation.gif"/>
          <p:cNvPicPr>
            <a:picLocks noGrp="1" noChangeAspect="1" noChangeArrowheads="1" noCrop="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3391415" y="1493976"/>
            <a:ext cx="5415170" cy="4583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1647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smtClean="0"/>
              <a:t>Merge </a:t>
            </a:r>
            <a:r>
              <a:rPr lang="pt-BR" dirty="0" err="1" smtClean="0"/>
              <a:t>Sort</a:t>
            </a:r>
            <a:endParaRPr lang="pt-BR" dirty="0"/>
          </a:p>
        </p:txBody>
      </p:sp>
      <p:pic>
        <p:nvPicPr>
          <p:cNvPr id="5" name="XaqR3G_NVoo"/>
          <p:cNvPicPr>
            <a:picLocks noGrp="1" noRot="1" noChangeAspect="1"/>
          </p:cNvPicPr>
          <p:nvPr>
            <p:ph sz="quarter" idx="10"/>
            <a:videoFile r:link="rId1"/>
          </p:nvPr>
        </p:nvPicPr>
        <p:blipFill>
          <a:blip r:embed="rId3"/>
          <a:stretch>
            <a:fillRect/>
          </a:stretch>
        </p:blipFill>
        <p:spPr>
          <a:xfrm>
            <a:off x="1670050" y="1425575"/>
            <a:ext cx="8805863" cy="4953000"/>
          </a:xfrm>
          <a:prstGeom prst="rect">
            <a:avLst/>
          </a:prstGeom>
        </p:spPr>
      </p:pic>
    </p:spTree>
    <p:extLst>
      <p:ext uri="{BB962C8B-B14F-4D97-AF65-F5344CB8AC3E}">
        <p14:creationId xmlns:p14="http://schemas.microsoft.com/office/powerpoint/2010/main" val="128691135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Merge </a:t>
            </a:r>
            <a:r>
              <a:rPr lang="pt-BR" dirty="0" err="1"/>
              <a:t>Sort</a:t>
            </a:r>
            <a:endParaRPr lang="pt-BR" dirty="0"/>
          </a:p>
        </p:txBody>
      </p:sp>
      <p:sp>
        <p:nvSpPr>
          <p:cNvPr id="3" name="Espaço Reservado para Conteúdo 2"/>
          <p:cNvSpPr>
            <a:spLocks noGrp="1"/>
          </p:cNvSpPr>
          <p:nvPr>
            <p:ph sz="quarter" idx="10"/>
          </p:nvPr>
        </p:nvSpPr>
        <p:spPr/>
        <p:txBody>
          <a:bodyPr/>
          <a:lstStyle/>
          <a:p>
            <a:r>
              <a:rPr lang="pt-BR" dirty="0" smtClean="0"/>
              <a:t>Aplicar o Merge </a:t>
            </a:r>
            <a:r>
              <a:rPr lang="pt-BR" dirty="0" err="1" smtClean="0"/>
              <a:t>Sort</a:t>
            </a:r>
            <a:r>
              <a:rPr lang="pt-BR" dirty="0" smtClean="0"/>
              <a:t> </a:t>
            </a:r>
            <a:r>
              <a:rPr lang="pt-BR" dirty="0"/>
              <a:t>no </a:t>
            </a:r>
            <a:r>
              <a:rPr lang="pt-BR" dirty="0" smtClean="0"/>
              <a:t>algoritmo 40 15 16 40 46 49 22</a:t>
            </a:r>
            <a:endParaRPr lang="pt-BR" dirty="0"/>
          </a:p>
          <a:p>
            <a:r>
              <a:rPr lang="pt-BR" dirty="0" smtClean="0"/>
              <a:t>Utilizando uma função com o Merge </a:t>
            </a:r>
            <a:r>
              <a:rPr lang="pt-BR" dirty="0" err="1" smtClean="0"/>
              <a:t>Sort</a:t>
            </a:r>
            <a:r>
              <a:rPr lang="pt-BR" dirty="0" smtClean="0"/>
              <a:t> implementado. Organize os números: 80 50 10 30 550 111 112 231</a:t>
            </a:r>
          </a:p>
          <a:p>
            <a:r>
              <a:rPr lang="pt-BR" dirty="0" smtClean="0"/>
              <a:t>Implemente uma função com o Merge </a:t>
            </a:r>
            <a:r>
              <a:rPr lang="pt-BR" dirty="0" err="1" smtClean="0"/>
              <a:t>sort</a:t>
            </a:r>
            <a:r>
              <a:rPr lang="pt-BR" dirty="0" smtClean="0"/>
              <a:t> para organizar 10 números informados pelo usuário.</a:t>
            </a:r>
          </a:p>
          <a:p>
            <a:r>
              <a:rPr lang="pt-BR" dirty="0"/>
              <a:t>Implemente uma função com o Merge </a:t>
            </a:r>
            <a:r>
              <a:rPr lang="pt-BR" dirty="0" err="1"/>
              <a:t>sort</a:t>
            </a:r>
            <a:r>
              <a:rPr lang="pt-BR" dirty="0"/>
              <a:t> para organizar 5</a:t>
            </a:r>
            <a:r>
              <a:rPr lang="pt-BR" dirty="0" smtClean="0"/>
              <a:t> </a:t>
            </a:r>
            <a:r>
              <a:rPr lang="pt-BR" dirty="0"/>
              <a:t>números informados pelo </a:t>
            </a:r>
            <a:r>
              <a:rPr lang="pt-BR" dirty="0" smtClean="0"/>
              <a:t>usuário. Converta-os para binário e exiba-os.</a:t>
            </a:r>
            <a:endParaRPr lang="pt-BR" dirty="0"/>
          </a:p>
          <a:p>
            <a:pPr marL="0" indent="0">
              <a:buNone/>
            </a:pPr>
            <a:endParaRPr lang="pt-BR" dirty="0"/>
          </a:p>
        </p:txBody>
      </p:sp>
    </p:spTree>
    <p:extLst>
      <p:ext uri="{BB962C8B-B14F-4D97-AF65-F5344CB8AC3E}">
        <p14:creationId xmlns:p14="http://schemas.microsoft.com/office/powerpoint/2010/main" val="3379904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Materiais de Apoio</a:t>
            </a:r>
            <a:endParaRPr lang="pt-BR" dirty="0"/>
          </a:p>
        </p:txBody>
      </p:sp>
      <p:sp>
        <p:nvSpPr>
          <p:cNvPr id="3" name="Espaço Reservado para Conteúdo 2"/>
          <p:cNvSpPr>
            <a:spLocks noGrp="1"/>
          </p:cNvSpPr>
          <p:nvPr>
            <p:ph sz="quarter" idx="10"/>
          </p:nvPr>
        </p:nvSpPr>
        <p:spPr/>
        <p:txBody>
          <a:bodyPr/>
          <a:lstStyle/>
          <a:p>
            <a:pPr marL="0" indent="0">
              <a:buNone/>
            </a:pPr>
            <a:r>
              <a:rPr lang="pt-BR" dirty="0">
                <a:hlinkClick r:id="rId2"/>
              </a:rPr>
              <a:t>https://</a:t>
            </a:r>
            <a:r>
              <a:rPr lang="pt-BR" dirty="0" smtClean="0">
                <a:hlinkClick r:id="rId2"/>
              </a:rPr>
              <a:t>www.treinaweb.com.br/blog/conheca-os-principais-algoritmos-de-ordenacao</a:t>
            </a:r>
            <a:endParaRPr lang="pt-BR" dirty="0" smtClean="0"/>
          </a:p>
          <a:p>
            <a:pPr marL="0" indent="0">
              <a:buNone/>
            </a:pPr>
            <a:r>
              <a:rPr lang="pt-BR" dirty="0">
                <a:hlinkClick r:id="rId3"/>
              </a:rPr>
              <a:t>https://embarcados.com.br/algoritmos-de-ordenacao-bubble-sort</a:t>
            </a:r>
            <a:r>
              <a:rPr lang="pt-BR" dirty="0" smtClean="0">
                <a:hlinkClick r:id="rId3"/>
              </a:rPr>
              <a:t>/</a:t>
            </a:r>
            <a:endParaRPr lang="pt-BR" dirty="0" smtClean="0"/>
          </a:p>
          <a:p>
            <a:pPr marL="0" indent="0">
              <a:buNone/>
            </a:pPr>
            <a:endParaRPr lang="pt-BR" dirty="0"/>
          </a:p>
        </p:txBody>
      </p:sp>
    </p:spTree>
    <p:extLst>
      <p:ext uri="{BB962C8B-B14F-4D97-AF65-F5344CB8AC3E}">
        <p14:creationId xmlns:p14="http://schemas.microsoft.com/office/powerpoint/2010/main" val="4004131773"/>
      </p:ext>
    </p:extLst>
  </p:cSld>
  <p:clrMapOvr>
    <a:masterClrMapping/>
  </p:clrMapOvr>
  <p:timing>
    <p:tnLst>
      <p:par>
        <p:cTn id="1" dur="indefinite" restart="never" nodeType="tmRoot"/>
      </p:par>
    </p:tnLst>
  </p:timing>
</p:sld>
</file>

<file path=ppt/theme/theme1.xml><?xml version="1.0" encoding="utf-8"?>
<a:theme xmlns:a="http://schemas.openxmlformats.org/drawingml/2006/main" name="Cacho">
  <a:themeElements>
    <a:clrScheme name="Cacho">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Cacho">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acho">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6281</TotalTime>
  <Words>1845</Words>
  <Application>Microsoft Office PowerPoint</Application>
  <PresentationFormat>Widescreen</PresentationFormat>
  <Paragraphs>121</Paragraphs>
  <Slides>39</Slides>
  <Notes>0</Notes>
  <HiddenSlides>0</HiddenSlides>
  <MMClips>5</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39</vt:i4>
      </vt:variant>
    </vt:vector>
  </HeadingPairs>
  <TitlesOfParts>
    <vt:vector size="44" baseType="lpstr">
      <vt:lpstr>Arial</vt:lpstr>
      <vt:lpstr>Calibri</vt:lpstr>
      <vt:lpstr>Century Gothic</vt:lpstr>
      <vt:lpstr>Wingdings 3</vt:lpstr>
      <vt:lpstr>Cacho</vt:lpstr>
      <vt:lpstr>Por que ordenar</vt:lpstr>
      <vt:lpstr>Ordenação</vt:lpstr>
      <vt:lpstr>Tipos de ordenação</vt:lpstr>
      <vt:lpstr>Métodos Simples</vt:lpstr>
      <vt:lpstr>Insertion Sort</vt:lpstr>
      <vt:lpstr>Apresentação do PowerPoint</vt:lpstr>
      <vt:lpstr>Insertion Sort</vt:lpstr>
      <vt:lpstr>Insertion Sort</vt:lpstr>
      <vt:lpstr>Atividade</vt:lpstr>
      <vt:lpstr>Selection Sort</vt:lpstr>
      <vt:lpstr>Selection Sort</vt:lpstr>
      <vt:lpstr>Selection Sort</vt:lpstr>
      <vt:lpstr>Selection Sort</vt:lpstr>
      <vt:lpstr>Atividade</vt:lpstr>
      <vt:lpstr>Atividade</vt:lpstr>
      <vt:lpstr>Bubble Sort</vt:lpstr>
      <vt:lpstr>Bubble Sort</vt:lpstr>
      <vt:lpstr>Bubble Sort</vt:lpstr>
      <vt:lpstr>Bubble Sort</vt:lpstr>
      <vt:lpstr>Atividade bubble Sort</vt:lpstr>
      <vt:lpstr>Comb Sort</vt:lpstr>
      <vt:lpstr>Comb Sort - GAP</vt:lpstr>
      <vt:lpstr>Comb Sort - GAP</vt:lpstr>
      <vt:lpstr>Comb Sort</vt:lpstr>
      <vt:lpstr>Comb Sort</vt:lpstr>
      <vt:lpstr>Atividades</vt:lpstr>
      <vt:lpstr>Métodos Eficientes</vt:lpstr>
      <vt:lpstr>Métodos Eficientes</vt:lpstr>
      <vt:lpstr>Quick Sort</vt:lpstr>
      <vt:lpstr>Quick Sort - Funcionamento</vt:lpstr>
      <vt:lpstr>Quick Sort - Funcionamento</vt:lpstr>
      <vt:lpstr>Quick Sort</vt:lpstr>
      <vt:lpstr>Atividade</vt:lpstr>
      <vt:lpstr>Merge Sort</vt:lpstr>
      <vt:lpstr>Merge Sort</vt:lpstr>
      <vt:lpstr>Merge Sort</vt:lpstr>
      <vt:lpstr>Merge Sort</vt:lpstr>
      <vt:lpstr>Merge Sort</vt:lpstr>
      <vt:lpstr>Materiais de Apoio</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Gustavo</dc:creator>
  <cp:lastModifiedBy>Gustavo</cp:lastModifiedBy>
  <cp:revision>135</cp:revision>
  <dcterms:created xsi:type="dcterms:W3CDTF">2023-02-20T14:03:24Z</dcterms:created>
  <dcterms:modified xsi:type="dcterms:W3CDTF">2026-01-06T21:34:37Z</dcterms:modified>
</cp:coreProperties>
</file>